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comments+xml" PartName="/ppt/comments/comment1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commentAuthors+xml" PartName="/ppt/commentAuthors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y="5143500" cx="9144000"/>
  <p:notesSz cx="5143500" cy="9144000"/>
  <p:embeddedFontLst>
    <p:embeddedFont>
      <p:font typeface="Roboto"/>
      <p:regular r:id="rId15"/>
      <p:bold r:id="rId16"/>
      <p:italic r:id="rId17"/>
      <p:boldItalic r:id="rId18"/>
    </p:embeddedFont>
    <p:embeddedFont>
      <p:font typeface="League Gothic"/>
      <p:regular r:id="rId1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Author clrIdx="0" id="0" initials="" lastIdx="1" name="Joseph Kenney"/>
</p:cmAuthorLst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commentAuthors" Target="commentAuthor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Roboto-regular.fntdata"/><Relationship Id="rId14" Type="http://schemas.openxmlformats.org/officeDocument/2006/relationships/slide" Target="slides/slide9.xml"/><Relationship Id="rId17" Type="http://schemas.openxmlformats.org/officeDocument/2006/relationships/font" Target="fonts/Roboto-italic.fntdata"/><Relationship Id="rId16" Type="http://schemas.openxmlformats.org/officeDocument/2006/relationships/font" Target="fonts/Roboto-bold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LeagueGothic-regular.fntdata"/><Relationship Id="rId6" Type="http://schemas.openxmlformats.org/officeDocument/2006/relationships/slide" Target="slides/slide1.xml"/><Relationship Id="rId18" Type="http://schemas.openxmlformats.org/officeDocument/2006/relationships/font" Target="fonts/Roboto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comments/comment1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1" dt="2026-03-10T22:10:46.105">
    <p:pos x="6000" y="0"/>
    <p:text>@vishwa.srinivasan@astronomer.io I think we kill this slide for the all hands, save this talking point for our internal discussions w leadership</p:text>
  </p:cm>
</p:cmLst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" name="Google Shape;25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6" name="Google Shape;46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6" name="Google Shape;56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1" name="Google Shape;91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7" name="Google Shape;107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1" name="Google Shape;121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4" name="Google Shape;134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1" name="Google Shape;151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comments" Target="../comments/comment1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343247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872DED"/>
          </a:solidFill>
          <a:ln cap="flat" cmpd="sng" w="12700">
            <a:solidFill>
              <a:srgbClr val="872D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3"/>
          <p:cNvSpPr/>
          <p:nvPr/>
        </p:nvSpPr>
        <p:spPr>
          <a:xfrm>
            <a:off x="164592" y="0"/>
            <a:ext cx="8979408" cy="64008"/>
          </a:xfrm>
          <a:prstGeom prst="rect">
            <a:avLst/>
          </a:prstGeom>
          <a:solidFill>
            <a:srgbClr val="FFB32D"/>
          </a:solidFill>
          <a:ln cap="flat" cmpd="sng" w="12700">
            <a:solidFill>
              <a:srgbClr val="FFB3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3"/>
          <p:cNvSpPr/>
          <p:nvPr/>
        </p:nvSpPr>
        <p:spPr>
          <a:xfrm>
            <a:off x="411480" y="320040"/>
            <a:ext cx="8321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B32D"/>
              </a:buClr>
              <a:buSzPts val="1100"/>
              <a:buFont typeface="Roboto"/>
              <a:buNone/>
            </a:pPr>
            <a:r>
              <a:rPr b="1" i="0" lang="en-US" sz="1100" u="none" cap="none" strike="noStrike">
                <a:solidFill>
                  <a:srgbClr val="FFB32D"/>
                </a:solidFill>
                <a:latin typeface="Roboto"/>
                <a:ea typeface="Roboto"/>
                <a:cs typeface="Roboto"/>
                <a:sym typeface="Roboto"/>
              </a:rPr>
              <a:t>ALL-HANDS  ·  MARCH 2026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3"/>
          <p:cNvSpPr/>
          <p:nvPr/>
        </p:nvSpPr>
        <p:spPr>
          <a:xfrm>
            <a:off x="411480" y="868680"/>
            <a:ext cx="832104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200"/>
              <a:buFont typeface="League Gothic"/>
              <a:buNone/>
            </a:pPr>
            <a:r>
              <a:rPr b="1" i="0" lang="en-US" sz="7200" u="none" cap="none" strike="noStrike">
                <a:solidFill>
                  <a:srgbClr val="FFFFFF"/>
                </a:solidFill>
                <a:latin typeface="League Gothic"/>
                <a:ea typeface="League Gothic"/>
                <a:cs typeface="League Gothic"/>
                <a:sym typeface="League Gothic"/>
              </a:rPr>
              <a:t>SELLING SMARTER:</a:t>
            </a:r>
            <a:endParaRPr b="0" i="0" sz="7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3"/>
          <p:cNvSpPr/>
          <p:nvPr/>
        </p:nvSpPr>
        <p:spPr>
          <a:xfrm>
            <a:off x="411480" y="1691640"/>
            <a:ext cx="832104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4CFF5"/>
              </a:buClr>
              <a:buSzPts val="2800"/>
              <a:buFont typeface="Roboto"/>
              <a:buNone/>
            </a:pPr>
            <a:r>
              <a:rPr b="0" i="0" lang="en-US" sz="2800" u="none" cap="none" strike="noStrike">
                <a:solidFill>
                  <a:srgbClr val="D4CFF5"/>
                </a:solidFill>
                <a:latin typeface="Roboto"/>
                <a:ea typeface="Roboto"/>
                <a:cs typeface="Roboto"/>
                <a:sym typeface="Roboto"/>
              </a:rPr>
              <a:t>The AI-Powered GTM Team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3"/>
          <p:cNvSpPr/>
          <p:nvPr/>
        </p:nvSpPr>
        <p:spPr>
          <a:xfrm>
            <a:off x="411480" y="2514600"/>
            <a:ext cx="1280160" cy="45720"/>
          </a:xfrm>
          <a:prstGeom prst="rect">
            <a:avLst/>
          </a:prstGeom>
          <a:solidFill>
            <a:srgbClr val="872DED"/>
          </a:solidFill>
          <a:ln cap="flat" cmpd="sng" w="12700">
            <a:solidFill>
              <a:srgbClr val="872D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" name="Google Shape;22;p3"/>
          <p:cNvSpPr/>
          <p:nvPr/>
        </p:nvSpPr>
        <p:spPr>
          <a:xfrm>
            <a:off x="411480" y="2743200"/>
            <a:ext cx="685800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D4CFF5"/>
              </a:buClr>
              <a:buSzPts val="1600"/>
              <a:buFont typeface="Roboto"/>
              <a:buNone/>
            </a:pPr>
            <a:r>
              <a:rPr b="0" i="0" lang="en-US" sz="1600" u="none" cap="none" strike="noStrike">
                <a:solidFill>
                  <a:srgbClr val="D4CFF5"/>
                </a:solidFill>
                <a:latin typeface="Roboto"/>
                <a:ea typeface="Roboto"/>
                <a:cs typeface="Roboto"/>
                <a:sym typeface="Roboto"/>
              </a:rPr>
              <a:t>How a lean team of 4 AEs manages 1,000+ accounts with AI agents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D4CFF5"/>
              </a:buClr>
              <a:buSzPts val="1600"/>
              <a:buFont typeface="Roboto"/>
              <a:buNone/>
            </a:pPr>
            <a:r>
              <a:rPr b="0" i="0" lang="en-US" sz="1600" u="none" cap="none" strike="noStrike">
                <a:solidFill>
                  <a:srgbClr val="D4CFF5"/>
                </a:solidFill>
                <a:latin typeface="Roboto"/>
                <a:ea typeface="Roboto"/>
                <a:cs typeface="Roboto"/>
                <a:sym typeface="Roboto"/>
              </a:rPr>
              <a:t>that research, qualify, and surface opportunities at scale.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343247"/>
        </a:solidFill>
      </p:bgPr>
    </p:bg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4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FB32D"/>
          </a:solidFill>
          <a:ln cap="flat" cmpd="sng" w="12700">
            <a:solidFill>
              <a:srgbClr val="FFB3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" name="Google Shape;29;p4"/>
          <p:cNvSpPr/>
          <p:nvPr/>
        </p:nvSpPr>
        <p:spPr>
          <a:xfrm>
            <a:off x="457200" y="256032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B32D"/>
              </a:buClr>
              <a:buSzPts val="1100"/>
              <a:buFont typeface="Roboto"/>
              <a:buNone/>
            </a:pPr>
            <a:r>
              <a:rPr b="1" i="0" lang="en-US" sz="1100" u="none" cap="none" strike="noStrike">
                <a:solidFill>
                  <a:srgbClr val="FFB32D"/>
                </a:solidFill>
                <a:latin typeface="Roboto"/>
                <a:ea typeface="Roboto"/>
                <a:cs typeface="Roboto"/>
                <a:sym typeface="Roboto"/>
              </a:rPr>
              <a:t>THE SITUATION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4"/>
          <p:cNvSpPr/>
          <p:nvPr/>
        </p:nvSpPr>
        <p:spPr>
          <a:xfrm>
            <a:off x="457200" y="685800"/>
            <a:ext cx="822960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600"/>
              <a:buFont typeface="League Gothic"/>
              <a:buNone/>
            </a:pPr>
            <a:r>
              <a:rPr b="1" i="0" lang="en-US" sz="4600" u="none" cap="none" strike="noStrike">
                <a:solidFill>
                  <a:srgbClr val="FFFFFF"/>
                </a:solidFill>
                <a:latin typeface="League Gothic"/>
                <a:ea typeface="League Gothic"/>
                <a:cs typeface="League Gothic"/>
                <a:sym typeface="League Gothic"/>
              </a:rPr>
              <a:t>We lost nearly half our sellers.</a:t>
            </a:r>
            <a:endParaRPr b="0" i="0" sz="4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600"/>
              <a:buFont typeface="League Gothic"/>
              <a:buNone/>
            </a:pPr>
            <a:r>
              <a:rPr b="1" i="0" lang="en-US" sz="4600" u="none" cap="none" strike="noStrike">
                <a:solidFill>
                  <a:srgbClr val="FFFFFF"/>
                </a:solidFill>
                <a:latin typeface="League Gothic"/>
                <a:ea typeface="League Gothic"/>
                <a:cs typeface="League Gothic"/>
                <a:sym typeface="League Gothic"/>
              </a:rPr>
              <a:t>The pipeline didn't shrink.</a:t>
            </a:r>
            <a:endParaRPr b="0" i="0" sz="4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4"/>
          <p:cNvSpPr/>
          <p:nvPr/>
        </p:nvSpPr>
        <p:spPr>
          <a:xfrm>
            <a:off x="457200" y="2286000"/>
            <a:ext cx="2468880" cy="1645920"/>
          </a:xfrm>
          <a:prstGeom prst="rect">
            <a:avLst/>
          </a:prstGeom>
          <a:solidFill>
            <a:srgbClr val="555261"/>
          </a:solidFill>
          <a:ln cap="flat" cmpd="sng" w="19050">
            <a:solidFill>
              <a:srgbClr val="872DED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" name="Google Shape;32;p4"/>
          <p:cNvSpPr/>
          <p:nvPr/>
        </p:nvSpPr>
        <p:spPr>
          <a:xfrm>
            <a:off x="457200" y="2286000"/>
            <a:ext cx="2468880" cy="45720"/>
          </a:xfrm>
          <a:prstGeom prst="rect">
            <a:avLst/>
          </a:prstGeom>
          <a:solidFill>
            <a:srgbClr val="872DED"/>
          </a:solidFill>
          <a:ln cap="flat" cmpd="sng" w="12700">
            <a:solidFill>
              <a:srgbClr val="872D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4"/>
          <p:cNvSpPr/>
          <p:nvPr/>
        </p:nvSpPr>
        <p:spPr>
          <a:xfrm>
            <a:off x="457200" y="2377440"/>
            <a:ext cx="246888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B32D"/>
              </a:buClr>
              <a:buSzPts val="5600"/>
              <a:buFont typeface="League Gothic"/>
              <a:buNone/>
            </a:pPr>
            <a:r>
              <a:rPr b="1" i="0" lang="en-US" sz="5600" u="none" cap="none" strike="noStrike">
                <a:solidFill>
                  <a:srgbClr val="FFB32D"/>
                </a:solidFill>
                <a:latin typeface="League Gothic"/>
                <a:ea typeface="League Gothic"/>
                <a:cs typeface="League Gothic"/>
                <a:sym typeface="League Gothic"/>
              </a:rPr>
              <a:t>42%</a:t>
            </a:r>
            <a:endParaRPr b="0" i="0" sz="5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4"/>
          <p:cNvSpPr/>
          <p:nvPr/>
        </p:nvSpPr>
        <p:spPr>
          <a:xfrm>
            <a:off x="457200" y="3246120"/>
            <a:ext cx="24688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4CFF5"/>
              </a:buClr>
              <a:buSzPts val="1300"/>
              <a:buFont typeface="Roboto"/>
              <a:buNone/>
            </a:pPr>
            <a:r>
              <a:rPr b="0" i="0" lang="en-US" sz="1300" u="none" cap="none" strike="noStrike">
                <a:solidFill>
                  <a:srgbClr val="D4CFF5"/>
                </a:solidFill>
                <a:latin typeface="Roboto"/>
                <a:ea typeface="Roboto"/>
                <a:cs typeface="Roboto"/>
                <a:sym typeface="Roboto"/>
              </a:rPr>
              <a:t>of sellers lost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4CFF5"/>
              </a:buClr>
              <a:buSzPts val="1300"/>
              <a:buFont typeface="Roboto"/>
              <a:buNone/>
            </a:pPr>
            <a:r>
              <a:rPr b="0" i="0" lang="en-US" sz="1300" u="none" cap="none" strike="noStrike">
                <a:solidFill>
                  <a:srgbClr val="D4CFF5"/>
                </a:solidFill>
                <a:latin typeface="Roboto"/>
                <a:ea typeface="Roboto"/>
                <a:cs typeface="Roboto"/>
                <a:sym typeface="Roboto"/>
              </a:rPr>
              <a:t>org-wide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4"/>
          <p:cNvSpPr/>
          <p:nvPr/>
        </p:nvSpPr>
        <p:spPr>
          <a:xfrm>
            <a:off x="3246120" y="2286000"/>
            <a:ext cx="2468880" cy="1645920"/>
          </a:xfrm>
          <a:prstGeom prst="rect">
            <a:avLst/>
          </a:prstGeom>
          <a:solidFill>
            <a:srgbClr val="555261"/>
          </a:solidFill>
          <a:ln cap="flat" cmpd="sng" w="19050">
            <a:solidFill>
              <a:srgbClr val="872DED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4"/>
          <p:cNvSpPr/>
          <p:nvPr/>
        </p:nvSpPr>
        <p:spPr>
          <a:xfrm>
            <a:off x="3246120" y="2286000"/>
            <a:ext cx="2468880" cy="45720"/>
          </a:xfrm>
          <a:prstGeom prst="rect">
            <a:avLst/>
          </a:prstGeom>
          <a:solidFill>
            <a:srgbClr val="872DED"/>
          </a:solidFill>
          <a:ln cap="flat" cmpd="sng" w="12700">
            <a:solidFill>
              <a:srgbClr val="872D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4"/>
          <p:cNvSpPr/>
          <p:nvPr/>
        </p:nvSpPr>
        <p:spPr>
          <a:xfrm>
            <a:off x="3246120" y="2377440"/>
            <a:ext cx="246888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B32D"/>
              </a:buClr>
              <a:buSzPts val="5600"/>
              <a:buFont typeface="League Gothic"/>
              <a:buNone/>
            </a:pPr>
            <a:r>
              <a:rPr b="1" i="0" lang="en-US" sz="5600" u="none" cap="none" strike="noStrike">
                <a:solidFill>
                  <a:srgbClr val="FFB32D"/>
                </a:solidFill>
                <a:latin typeface="League Gothic"/>
                <a:ea typeface="League Gothic"/>
                <a:cs typeface="League Gothic"/>
                <a:sym typeface="League Gothic"/>
              </a:rPr>
              <a:t>4</a:t>
            </a:r>
            <a:endParaRPr b="0" i="0" sz="5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4"/>
          <p:cNvSpPr/>
          <p:nvPr/>
        </p:nvSpPr>
        <p:spPr>
          <a:xfrm>
            <a:off x="3246120" y="3246120"/>
            <a:ext cx="24688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4CFF5"/>
              </a:buClr>
              <a:buSzPts val="1300"/>
              <a:buFont typeface="Roboto"/>
              <a:buNone/>
            </a:pPr>
            <a:r>
              <a:rPr b="0" i="0" lang="en-US" sz="1300" u="none" cap="none" strike="noStrike">
                <a:solidFill>
                  <a:srgbClr val="D4CFF5"/>
                </a:solidFill>
                <a:latin typeface="Roboto"/>
                <a:ea typeface="Roboto"/>
                <a:cs typeface="Roboto"/>
                <a:sym typeface="Roboto"/>
              </a:rPr>
              <a:t>AEs managing the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4CFF5"/>
              </a:buClr>
              <a:buSzPts val="1300"/>
              <a:buFont typeface="Roboto"/>
              <a:buNone/>
            </a:pPr>
            <a:r>
              <a:rPr b="0" i="0" lang="en-US" sz="1300" u="none" cap="none" strike="noStrike">
                <a:solidFill>
                  <a:srgbClr val="D4CFF5"/>
                </a:solidFill>
                <a:latin typeface="Roboto"/>
                <a:ea typeface="Roboto"/>
                <a:cs typeface="Roboto"/>
                <a:sym typeface="Roboto"/>
              </a:rPr>
              <a:t>commercial segment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4"/>
          <p:cNvSpPr/>
          <p:nvPr/>
        </p:nvSpPr>
        <p:spPr>
          <a:xfrm>
            <a:off x="6035040" y="2286000"/>
            <a:ext cx="2468880" cy="1645920"/>
          </a:xfrm>
          <a:prstGeom prst="rect">
            <a:avLst/>
          </a:prstGeom>
          <a:solidFill>
            <a:srgbClr val="555261"/>
          </a:solidFill>
          <a:ln cap="flat" cmpd="sng" w="19050">
            <a:solidFill>
              <a:srgbClr val="872DED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" name="Google Shape;40;p4"/>
          <p:cNvSpPr/>
          <p:nvPr/>
        </p:nvSpPr>
        <p:spPr>
          <a:xfrm>
            <a:off x="6035040" y="2286000"/>
            <a:ext cx="2468880" cy="45720"/>
          </a:xfrm>
          <a:prstGeom prst="rect">
            <a:avLst/>
          </a:prstGeom>
          <a:solidFill>
            <a:srgbClr val="872DED"/>
          </a:solidFill>
          <a:ln cap="flat" cmpd="sng" w="12700">
            <a:solidFill>
              <a:srgbClr val="872D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p4"/>
          <p:cNvSpPr/>
          <p:nvPr/>
        </p:nvSpPr>
        <p:spPr>
          <a:xfrm>
            <a:off x="6035040" y="2377440"/>
            <a:ext cx="246888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B32D"/>
              </a:buClr>
              <a:buSzPts val="5600"/>
              <a:buFont typeface="League Gothic"/>
              <a:buNone/>
            </a:pPr>
            <a:r>
              <a:rPr b="1" i="0" lang="en-US" sz="5600" u="none" cap="none" strike="noStrike">
                <a:solidFill>
                  <a:srgbClr val="FFB32D"/>
                </a:solidFill>
                <a:latin typeface="League Gothic"/>
                <a:ea typeface="League Gothic"/>
                <a:cs typeface="League Gothic"/>
                <a:sym typeface="League Gothic"/>
              </a:rPr>
              <a:t>1,000+</a:t>
            </a:r>
            <a:endParaRPr b="0" i="0" sz="5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4"/>
          <p:cNvSpPr/>
          <p:nvPr/>
        </p:nvSpPr>
        <p:spPr>
          <a:xfrm>
            <a:off x="6035040" y="3246120"/>
            <a:ext cx="24688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4CFF5"/>
              </a:buClr>
              <a:buSzPts val="1300"/>
              <a:buFont typeface="Roboto"/>
              <a:buNone/>
            </a:pPr>
            <a:r>
              <a:rPr b="0" i="0" lang="en-US" sz="1300" u="none" cap="none" strike="noStrike">
                <a:solidFill>
                  <a:srgbClr val="D4CFF5"/>
                </a:solidFill>
                <a:latin typeface="Roboto"/>
                <a:ea typeface="Roboto"/>
                <a:cs typeface="Roboto"/>
                <a:sym typeface="Roboto"/>
              </a:rPr>
              <a:t>accounts to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4CFF5"/>
              </a:buClr>
              <a:buSzPts val="1300"/>
              <a:buFont typeface="Roboto"/>
              <a:buNone/>
            </a:pPr>
            <a:r>
              <a:rPr b="0" i="0" lang="en-US" sz="1300" u="none" cap="none" strike="noStrike">
                <a:solidFill>
                  <a:srgbClr val="D4CFF5"/>
                </a:solidFill>
                <a:latin typeface="Roboto"/>
                <a:ea typeface="Roboto"/>
                <a:cs typeface="Roboto"/>
                <a:sym typeface="Roboto"/>
              </a:rPr>
              <a:t>cover today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4"/>
          <p:cNvSpPr/>
          <p:nvPr/>
        </p:nvSpPr>
        <p:spPr>
          <a:xfrm>
            <a:off x="457200" y="429768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261"/>
              </a:buClr>
              <a:buSzPts val="1300"/>
              <a:buFont typeface="Roboto"/>
              <a:buNone/>
            </a:pPr>
            <a:r>
              <a:rPr b="0" i="1" lang="en-US" sz="1300" u="none" cap="none" strike="noStrike">
                <a:solidFill>
                  <a:srgbClr val="F0ECE5"/>
                </a:solidFill>
                <a:latin typeface="Roboto"/>
                <a:ea typeface="Roboto"/>
                <a:cs typeface="Roboto"/>
                <a:sym typeface="Roboto"/>
              </a:rPr>
              <a:t>This is both a challenge and an opportunity — if we use the right tools.</a:t>
            </a:r>
            <a:endParaRPr b="0" i="0" sz="1300" u="none" cap="none" strike="noStrike">
              <a:solidFill>
                <a:srgbClr val="F0ECE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872DED"/>
        </a:solidFill>
      </p:bgPr>
    </p:bg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5"/>
          <p:cNvSpPr/>
          <p:nvPr/>
        </p:nvSpPr>
        <p:spPr>
          <a:xfrm>
            <a:off x="5943600" y="0"/>
            <a:ext cx="3200400" cy="5143500"/>
          </a:xfrm>
          <a:prstGeom prst="rect">
            <a:avLst/>
          </a:prstGeom>
          <a:solidFill>
            <a:srgbClr val="343247">
              <a:alpha val="60000"/>
            </a:srgbClr>
          </a:solidFill>
          <a:ln cap="flat" cmpd="sng" w="12700">
            <a:solidFill>
              <a:srgbClr val="343247">
                <a:alpha val="6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5"/>
          <p:cNvSpPr/>
          <p:nvPr/>
        </p:nvSpPr>
        <p:spPr>
          <a:xfrm>
            <a:off x="502920" y="41148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B32D"/>
              </a:buClr>
              <a:buSzPts val="1100"/>
              <a:buFont typeface="Roboto"/>
              <a:buNone/>
            </a:pPr>
            <a:r>
              <a:rPr b="1" i="0" lang="en-US" sz="1100" u="none" cap="none" strike="noStrike">
                <a:solidFill>
                  <a:srgbClr val="FFB32D"/>
                </a:solidFill>
                <a:latin typeface="Roboto"/>
                <a:ea typeface="Roboto"/>
                <a:cs typeface="Roboto"/>
                <a:sym typeface="Roboto"/>
              </a:rPr>
              <a:t>OUR THESIS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5"/>
          <p:cNvSpPr/>
          <p:nvPr/>
        </p:nvSpPr>
        <p:spPr>
          <a:xfrm>
            <a:off x="502920" y="1005840"/>
            <a:ext cx="685800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800"/>
              <a:buFont typeface="League Gothic"/>
              <a:buNone/>
            </a:pPr>
            <a:r>
              <a:rPr b="1" i="0" lang="en-US" sz="5800" u="none" cap="none" strike="noStrike">
                <a:solidFill>
                  <a:srgbClr val="FFFFFF"/>
                </a:solidFill>
                <a:latin typeface="League Gothic"/>
                <a:ea typeface="League Gothic"/>
                <a:cs typeface="League Gothic"/>
                <a:sym typeface="League Gothic"/>
              </a:rPr>
              <a:t>Agents do the research.</a:t>
            </a:r>
            <a:endParaRPr b="0" i="0" sz="5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800"/>
              <a:buFont typeface="League Gothic"/>
              <a:buNone/>
            </a:pPr>
            <a:r>
              <a:rPr b="1" i="0" lang="en-US" sz="5800" u="none" cap="none" strike="noStrike">
                <a:solidFill>
                  <a:srgbClr val="FFFFFF"/>
                </a:solidFill>
                <a:latin typeface="League Gothic"/>
                <a:ea typeface="League Gothic"/>
                <a:cs typeface="League Gothic"/>
                <a:sym typeface="League Gothic"/>
              </a:rPr>
              <a:t>Reps close the deals.</a:t>
            </a:r>
            <a:endParaRPr b="0" i="0" sz="5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5"/>
          <p:cNvSpPr/>
          <p:nvPr/>
        </p:nvSpPr>
        <p:spPr>
          <a:xfrm>
            <a:off x="502920" y="2971800"/>
            <a:ext cx="1371600" cy="45720"/>
          </a:xfrm>
          <a:prstGeom prst="rect">
            <a:avLst/>
          </a:prstGeom>
          <a:solidFill>
            <a:srgbClr val="FFB32D"/>
          </a:solidFill>
          <a:ln cap="flat" cmpd="sng" w="12700">
            <a:solidFill>
              <a:srgbClr val="FFB3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5"/>
          <p:cNvSpPr/>
          <p:nvPr/>
        </p:nvSpPr>
        <p:spPr>
          <a:xfrm>
            <a:off x="502924" y="3154675"/>
            <a:ext cx="54408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Roboto"/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Time and deal quality are the two biggest factors in closing deals. </a:t>
            </a:r>
            <a:endParaRPr b="0" i="0" sz="1400" u="none" cap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Roboto"/>
              <a:buNone/>
            </a:pPr>
            <a:r>
              <a:t/>
            </a:r>
            <a:endParaRPr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Roboto"/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The question is: how do we build tools that either save time on manual tasks, or directly improve </a:t>
            </a:r>
            <a:r>
              <a:rPr lang="en-US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deal quality</a:t>
            </a:r>
            <a:r>
              <a:rPr b="0" i="0" lang="en-US" sz="14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to</a:t>
            </a:r>
            <a:r>
              <a:rPr b="0" i="0" lang="en-US" sz="14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 drive</a:t>
            </a:r>
            <a:r>
              <a:rPr lang="en-US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b="0" i="0" lang="en-US" sz="14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more closed business?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ECE5"/>
        </a:solidFill>
      </p:bgPr>
    </p:bg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6"/>
          <p:cNvSpPr/>
          <p:nvPr/>
        </p:nvSpPr>
        <p:spPr>
          <a:xfrm>
            <a:off x="0" y="0"/>
            <a:ext cx="3291840" cy="5143500"/>
          </a:xfrm>
          <a:prstGeom prst="rect">
            <a:avLst/>
          </a:prstGeom>
          <a:solidFill>
            <a:srgbClr val="343247"/>
          </a:solidFill>
          <a:ln cap="flat" cmpd="sng" w="12700">
            <a:solidFill>
              <a:srgbClr val="34324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6"/>
          <p:cNvSpPr/>
          <p:nvPr/>
        </p:nvSpPr>
        <p:spPr>
          <a:xfrm>
            <a:off x="0" y="0"/>
            <a:ext cx="3291840" cy="64008"/>
          </a:xfrm>
          <a:prstGeom prst="rect">
            <a:avLst/>
          </a:prstGeom>
          <a:solidFill>
            <a:srgbClr val="FFB32D"/>
          </a:solidFill>
          <a:ln cap="flat" cmpd="sng" w="12700">
            <a:solidFill>
              <a:srgbClr val="FFB3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6"/>
          <p:cNvSpPr/>
          <p:nvPr/>
        </p:nvSpPr>
        <p:spPr>
          <a:xfrm>
            <a:off x="228600" y="457200"/>
            <a:ext cx="283464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600"/>
              <a:buFont typeface="League Gothic"/>
              <a:buNone/>
            </a:pPr>
            <a:r>
              <a:rPr b="1" i="0" lang="en-US" sz="5600" u="none" cap="none" strike="noStrike">
                <a:solidFill>
                  <a:srgbClr val="FFFFFF"/>
                </a:solidFill>
                <a:latin typeface="League Gothic"/>
                <a:ea typeface="League Gothic"/>
                <a:cs typeface="League Gothic"/>
                <a:sym typeface="League Gothic"/>
              </a:rPr>
              <a:t>THE</a:t>
            </a:r>
            <a:endParaRPr b="0" i="0" sz="5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600"/>
              <a:buFont typeface="League Gothic"/>
              <a:buNone/>
            </a:pPr>
            <a:r>
              <a:rPr b="1" i="0" lang="en-US" sz="5600" u="none" cap="none" strike="noStrike">
                <a:solidFill>
                  <a:srgbClr val="FFFFFF"/>
                </a:solidFill>
                <a:latin typeface="League Gothic"/>
                <a:ea typeface="League Gothic"/>
                <a:cs typeface="League Gothic"/>
                <a:sym typeface="League Gothic"/>
              </a:rPr>
              <a:t>SYSTEM</a:t>
            </a:r>
            <a:endParaRPr b="0" i="0" sz="5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6"/>
          <p:cNvSpPr/>
          <p:nvPr/>
        </p:nvSpPr>
        <p:spPr>
          <a:xfrm>
            <a:off x="228600" y="2057400"/>
            <a:ext cx="28346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D4CFF5"/>
              </a:buClr>
              <a:buSzPts val="1400"/>
              <a:buFont typeface="Roboto"/>
              <a:buNone/>
            </a:pPr>
            <a:r>
              <a:rPr b="0" i="0" lang="en-US" sz="1400" u="none" cap="none" strike="noStrike">
                <a:solidFill>
                  <a:srgbClr val="D4CFF5"/>
                </a:solidFill>
                <a:latin typeface="Roboto"/>
                <a:ea typeface="Roboto"/>
                <a:cs typeface="Roboto"/>
                <a:sym typeface="Roboto"/>
              </a:rPr>
              <a:t>One agent. Five data sources.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6"/>
          <p:cNvSpPr/>
          <p:nvPr/>
        </p:nvSpPr>
        <p:spPr>
          <a:xfrm>
            <a:off x="228600" y="3017520"/>
            <a:ext cx="1097280" cy="45720"/>
          </a:xfrm>
          <a:prstGeom prst="rect">
            <a:avLst/>
          </a:prstGeom>
          <a:solidFill>
            <a:srgbClr val="872DED"/>
          </a:solidFill>
          <a:ln cap="flat" cmpd="sng" w="12700">
            <a:solidFill>
              <a:srgbClr val="872D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6"/>
          <p:cNvSpPr/>
          <p:nvPr/>
        </p:nvSpPr>
        <p:spPr>
          <a:xfrm>
            <a:off x="228600" y="3200400"/>
            <a:ext cx="28346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55261"/>
              </a:buClr>
              <a:buSzPts val="1100"/>
              <a:buFont typeface="Roboto"/>
              <a:buNone/>
            </a:pPr>
            <a:r>
              <a:rPr lang="en-US" sz="1100">
                <a:solidFill>
                  <a:srgbClr val="F0ECE5"/>
                </a:solidFill>
                <a:latin typeface="Roboto"/>
                <a:ea typeface="Roboto"/>
                <a:cs typeface="Roboto"/>
                <a:sym typeface="Roboto"/>
              </a:rPr>
              <a:t>v1 already</a:t>
            </a:r>
            <a:r>
              <a:rPr lang="en-US" sz="1100">
                <a:solidFill>
                  <a:srgbClr val="F0ECE5"/>
                </a:solidFill>
                <a:latin typeface="Roboto"/>
                <a:ea typeface="Roboto"/>
                <a:cs typeface="Roboto"/>
                <a:sym typeface="Roboto"/>
              </a:rPr>
              <a:t> in use </a:t>
            </a:r>
            <a:r>
              <a:rPr b="0" i="0" lang="en-US" sz="1100" u="none" cap="none" strike="noStrike">
                <a:solidFill>
                  <a:srgbClr val="F0ECE5"/>
                </a:solidFill>
                <a:latin typeface="Roboto"/>
                <a:ea typeface="Roboto"/>
                <a:cs typeface="Roboto"/>
                <a:sym typeface="Roboto"/>
              </a:rPr>
              <a:t>today</a:t>
            </a:r>
            <a:r>
              <a:rPr lang="en-US" sz="1100">
                <a:solidFill>
                  <a:srgbClr val="F0ECE5"/>
                </a:solidFill>
                <a:latin typeface="Roboto"/>
                <a:ea typeface="Roboto"/>
                <a:cs typeface="Roboto"/>
                <a:sym typeface="Roboto"/>
              </a:rPr>
              <a:t> with </a:t>
            </a:r>
            <a:r>
              <a:rPr lang="en-US" sz="1100">
                <a:solidFill>
                  <a:srgbClr val="F0ECE5"/>
                </a:solidFill>
                <a:latin typeface="Roboto"/>
                <a:ea typeface="Roboto"/>
                <a:cs typeface="Roboto"/>
                <a:sym typeface="Roboto"/>
              </a:rPr>
              <a:t>opportunities</a:t>
            </a:r>
            <a:r>
              <a:rPr lang="en-US" sz="1100">
                <a:solidFill>
                  <a:srgbClr val="F0ECE5"/>
                </a:solidFill>
                <a:latin typeface="Roboto"/>
                <a:ea typeface="Roboto"/>
                <a:cs typeface="Roboto"/>
                <a:sym typeface="Roboto"/>
              </a:rPr>
              <a:t> to add additional data sources and use cases.</a:t>
            </a:r>
            <a:endParaRPr b="0" i="0" sz="1100" u="none" cap="none" strike="noStrike">
              <a:solidFill>
                <a:srgbClr val="F0ECE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6"/>
          <p:cNvSpPr/>
          <p:nvPr/>
        </p:nvSpPr>
        <p:spPr>
          <a:xfrm>
            <a:off x="3520440" y="347472"/>
            <a:ext cx="2560320" cy="86868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4CDE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6"/>
          <p:cNvSpPr/>
          <p:nvPr/>
        </p:nvSpPr>
        <p:spPr>
          <a:xfrm>
            <a:off x="3520440" y="347472"/>
            <a:ext cx="64008" cy="868680"/>
          </a:xfrm>
          <a:prstGeom prst="rect">
            <a:avLst/>
          </a:prstGeom>
          <a:solidFill>
            <a:srgbClr val="872DED"/>
          </a:solidFill>
          <a:ln cap="flat" cmpd="sng" w="12700">
            <a:solidFill>
              <a:srgbClr val="872D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6"/>
          <p:cNvSpPr/>
          <p:nvPr/>
        </p:nvSpPr>
        <p:spPr>
          <a:xfrm>
            <a:off x="3685032" y="438912"/>
            <a:ext cx="23317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43247"/>
              </a:buClr>
              <a:buSzPts val="1400"/>
              <a:buFont typeface="Roboto"/>
              <a:buNone/>
            </a:pPr>
            <a:r>
              <a:rPr b="1" i="0" lang="en-US" sz="1400" u="none" cap="none" strike="noStrike">
                <a:solidFill>
                  <a:srgbClr val="343247"/>
                </a:solidFill>
                <a:latin typeface="Roboto"/>
                <a:ea typeface="Roboto"/>
                <a:cs typeface="Roboto"/>
                <a:sym typeface="Roboto"/>
              </a:rPr>
              <a:t>Gong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6"/>
          <p:cNvSpPr/>
          <p:nvPr/>
        </p:nvSpPr>
        <p:spPr>
          <a:xfrm>
            <a:off x="3685032" y="786384"/>
            <a:ext cx="23317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261"/>
              </a:buClr>
              <a:buSzPts val="1100"/>
              <a:buFont typeface="Roboto"/>
              <a:buNone/>
            </a:pPr>
            <a:r>
              <a:rPr b="0" i="0" lang="en-US" sz="1100" u="none" cap="none" strike="noStrike">
                <a:solidFill>
                  <a:srgbClr val="555261"/>
                </a:solidFill>
                <a:latin typeface="Roboto"/>
                <a:ea typeface="Roboto"/>
                <a:cs typeface="Roboto"/>
                <a:sym typeface="Roboto"/>
              </a:rPr>
              <a:t>Call transcripts &amp; deal history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6"/>
          <p:cNvSpPr/>
          <p:nvPr/>
        </p:nvSpPr>
        <p:spPr>
          <a:xfrm>
            <a:off x="6217920" y="347472"/>
            <a:ext cx="2560320" cy="86868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4CDE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6"/>
          <p:cNvSpPr/>
          <p:nvPr/>
        </p:nvSpPr>
        <p:spPr>
          <a:xfrm>
            <a:off x="6217920" y="347472"/>
            <a:ext cx="64008" cy="868680"/>
          </a:xfrm>
          <a:prstGeom prst="rect">
            <a:avLst/>
          </a:prstGeom>
          <a:solidFill>
            <a:srgbClr val="872DED"/>
          </a:solidFill>
          <a:ln cap="flat" cmpd="sng" w="12700">
            <a:solidFill>
              <a:srgbClr val="872D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6"/>
          <p:cNvSpPr/>
          <p:nvPr/>
        </p:nvSpPr>
        <p:spPr>
          <a:xfrm>
            <a:off x="6382512" y="438912"/>
            <a:ext cx="23317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43247"/>
              </a:buClr>
              <a:buSzPts val="1400"/>
              <a:buFont typeface="Roboto"/>
              <a:buNone/>
            </a:pPr>
            <a:r>
              <a:rPr b="1" i="0" lang="en-US" sz="1400" u="none" cap="none" strike="noStrike">
                <a:solidFill>
                  <a:srgbClr val="343247"/>
                </a:solidFill>
                <a:latin typeface="Roboto"/>
                <a:ea typeface="Roboto"/>
                <a:cs typeface="Roboto"/>
                <a:sym typeface="Roboto"/>
              </a:rPr>
              <a:t>Leadfeeder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6"/>
          <p:cNvSpPr/>
          <p:nvPr/>
        </p:nvSpPr>
        <p:spPr>
          <a:xfrm>
            <a:off x="6382512" y="786384"/>
            <a:ext cx="23317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261"/>
              </a:buClr>
              <a:buSzPts val="1100"/>
              <a:buFont typeface="Roboto"/>
              <a:buNone/>
            </a:pPr>
            <a:r>
              <a:rPr b="0" i="0" lang="en-US" sz="1100" u="none" cap="none" strike="noStrike">
                <a:solidFill>
                  <a:srgbClr val="555261"/>
                </a:solidFill>
                <a:latin typeface="Roboto"/>
                <a:ea typeface="Roboto"/>
                <a:cs typeface="Roboto"/>
                <a:sym typeface="Roboto"/>
              </a:rPr>
              <a:t>Website visit intent signals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6"/>
          <p:cNvSpPr/>
          <p:nvPr/>
        </p:nvSpPr>
        <p:spPr>
          <a:xfrm>
            <a:off x="3520440" y="1353312"/>
            <a:ext cx="2560320" cy="86868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4CDE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6"/>
          <p:cNvSpPr/>
          <p:nvPr/>
        </p:nvSpPr>
        <p:spPr>
          <a:xfrm>
            <a:off x="3520440" y="1353312"/>
            <a:ext cx="64008" cy="868680"/>
          </a:xfrm>
          <a:prstGeom prst="rect">
            <a:avLst/>
          </a:prstGeom>
          <a:solidFill>
            <a:srgbClr val="872DED"/>
          </a:solidFill>
          <a:ln cap="flat" cmpd="sng" w="12700">
            <a:solidFill>
              <a:srgbClr val="872D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6"/>
          <p:cNvSpPr/>
          <p:nvPr/>
        </p:nvSpPr>
        <p:spPr>
          <a:xfrm>
            <a:off x="3685032" y="1444752"/>
            <a:ext cx="23317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43247"/>
              </a:buClr>
              <a:buSzPts val="1400"/>
              <a:buFont typeface="Roboto"/>
              <a:buNone/>
            </a:pPr>
            <a:r>
              <a:rPr b="1" i="0" lang="en-US" sz="1400" u="none" cap="none" strike="noStrike">
                <a:solidFill>
                  <a:srgbClr val="343247"/>
                </a:solidFill>
                <a:latin typeface="Roboto"/>
                <a:ea typeface="Roboto"/>
                <a:cs typeface="Roboto"/>
                <a:sym typeface="Roboto"/>
              </a:rPr>
              <a:t>Common Room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6"/>
          <p:cNvSpPr/>
          <p:nvPr/>
        </p:nvSpPr>
        <p:spPr>
          <a:xfrm>
            <a:off x="3685032" y="1792224"/>
            <a:ext cx="23317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261"/>
              </a:buClr>
              <a:buSzPts val="1100"/>
              <a:buFont typeface="Roboto"/>
              <a:buNone/>
            </a:pPr>
            <a:r>
              <a:rPr b="0" i="0" lang="en-US" sz="1100" u="none" cap="none" strike="noStrike">
                <a:solidFill>
                  <a:srgbClr val="555261"/>
                </a:solidFill>
                <a:latin typeface="Roboto"/>
                <a:ea typeface="Roboto"/>
                <a:cs typeface="Roboto"/>
                <a:sym typeface="Roboto"/>
              </a:rPr>
              <a:t>Community &amp; product signals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6"/>
          <p:cNvSpPr/>
          <p:nvPr/>
        </p:nvSpPr>
        <p:spPr>
          <a:xfrm>
            <a:off x="6217920" y="1353312"/>
            <a:ext cx="2560320" cy="86868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4CDE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6"/>
          <p:cNvSpPr/>
          <p:nvPr/>
        </p:nvSpPr>
        <p:spPr>
          <a:xfrm>
            <a:off x="6217920" y="1353312"/>
            <a:ext cx="64008" cy="868680"/>
          </a:xfrm>
          <a:prstGeom prst="rect">
            <a:avLst/>
          </a:prstGeom>
          <a:solidFill>
            <a:srgbClr val="872DED"/>
          </a:solidFill>
          <a:ln cap="flat" cmpd="sng" w="12700">
            <a:solidFill>
              <a:srgbClr val="872D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6"/>
          <p:cNvSpPr/>
          <p:nvPr/>
        </p:nvSpPr>
        <p:spPr>
          <a:xfrm>
            <a:off x="6382512" y="1444752"/>
            <a:ext cx="23317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43247"/>
              </a:buClr>
              <a:buSzPts val="1400"/>
              <a:buFont typeface="Roboto"/>
              <a:buNone/>
            </a:pPr>
            <a:r>
              <a:rPr b="1" i="0" lang="en-US" sz="1400" u="none" cap="none" strike="noStrike">
                <a:solidFill>
                  <a:srgbClr val="343247"/>
                </a:solidFill>
                <a:latin typeface="Roboto"/>
                <a:ea typeface="Roboto"/>
                <a:cs typeface="Roboto"/>
                <a:sym typeface="Roboto"/>
              </a:rPr>
              <a:t>Exa / Web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6"/>
          <p:cNvSpPr/>
          <p:nvPr/>
        </p:nvSpPr>
        <p:spPr>
          <a:xfrm>
            <a:off x="6382512" y="1792224"/>
            <a:ext cx="23317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261"/>
              </a:buClr>
              <a:buSzPts val="1100"/>
              <a:buFont typeface="Roboto"/>
              <a:buNone/>
            </a:pPr>
            <a:r>
              <a:rPr b="0" i="0" lang="en-US" sz="1100" u="none" cap="none" strike="noStrike">
                <a:solidFill>
                  <a:srgbClr val="555261"/>
                </a:solidFill>
                <a:latin typeface="Roboto"/>
                <a:ea typeface="Roboto"/>
                <a:cs typeface="Roboto"/>
                <a:sym typeface="Roboto"/>
              </a:rPr>
              <a:t>LinkedIn &amp; web research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6"/>
          <p:cNvSpPr/>
          <p:nvPr/>
        </p:nvSpPr>
        <p:spPr>
          <a:xfrm>
            <a:off x="4873752" y="2359152"/>
            <a:ext cx="2560320" cy="86868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4CDE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6"/>
          <p:cNvSpPr/>
          <p:nvPr/>
        </p:nvSpPr>
        <p:spPr>
          <a:xfrm>
            <a:off x="4873752" y="2359152"/>
            <a:ext cx="64008" cy="868680"/>
          </a:xfrm>
          <a:prstGeom prst="rect">
            <a:avLst/>
          </a:prstGeom>
          <a:solidFill>
            <a:srgbClr val="872DED"/>
          </a:solidFill>
          <a:ln cap="flat" cmpd="sng" w="12700">
            <a:solidFill>
              <a:srgbClr val="872D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6"/>
          <p:cNvSpPr/>
          <p:nvPr/>
        </p:nvSpPr>
        <p:spPr>
          <a:xfrm>
            <a:off x="5038344" y="2450592"/>
            <a:ext cx="23317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43247"/>
              </a:buClr>
              <a:buSzPts val="1400"/>
              <a:buFont typeface="Roboto"/>
              <a:buNone/>
            </a:pPr>
            <a:r>
              <a:rPr b="1" i="0" lang="en-US" sz="1400" u="none" cap="none" strike="noStrike">
                <a:solidFill>
                  <a:srgbClr val="343247"/>
                </a:solidFill>
                <a:latin typeface="Roboto"/>
                <a:ea typeface="Roboto"/>
                <a:cs typeface="Roboto"/>
                <a:sym typeface="Roboto"/>
              </a:rPr>
              <a:t>Apollo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6"/>
          <p:cNvSpPr/>
          <p:nvPr/>
        </p:nvSpPr>
        <p:spPr>
          <a:xfrm>
            <a:off x="5038344" y="2798064"/>
            <a:ext cx="23317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261"/>
              </a:buClr>
              <a:buSzPts val="1100"/>
              <a:buFont typeface="Roboto"/>
              <a:buNone/>
            </a:pPr>
            <a:r>
              <a:rPr b="0" i="0" lang="en-US" sz="1100" u="none" cap="none" strike="noStrike">
                <a:solidFill>
                  <a:srgbClr val="555261"/>
                </a:solidFill>
                <a:latin typeface="Roboto"/>
                <a:ea typeface="Roboto"/>
                <a:cs typeface="Roboto"/>
                <a:sym typeface="Roboto"/>
              </a:rPr>
              <a:t>Enrichment &amp; sequences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6"/>
          <p:cNvSpPr/>
          <p:nvPr/>
        </p:nvSpPr>
        <p:spPr>
          <a:xfrm>
            <a:off x="3520440" y="3401568"/>
            <a:ext cx="5257800" cy="1371600"/>
          </a:xfrm>
          <a:prstGeom prst="rect">
            <a:avLst/>
          </a:prstGeom>
          <a:solidFill>
            <a:srgbClr val="343247"/>
          </a:solidFill>
          <a:ln cap="flat" cmpd="sng" w="19050">
            <a:solidFill>
              <a:srgbClr val="872DED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6"/>
          <p:cNvSpPr/>
          <p:nvPr/>
        </p:nvSpPr>
        <p:spPr>
          <a:xfrm>
            <a:off x="3520440" y="3401568"/>
            <a:ext cx="5257800" cy="54864"/>
          </a:xfrm>
          <a:prstGeom prst="rect">
            <a:avLst/>
          </a:prstGeom>
          <a:solidFill>
            <a:srgbClr val="FFB32D"/>
          </a:solidFill>
          <a:ln cap="flat" cmpd="sng" w="12700">
            <a:solidFill>
              <a:srgbClr val="FFB3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6"/>
          <p:cNvSpPr/>
          <p:nvPr/>
        </p:nvSpPr>
        <p:spPr>
          <a:xfrm>
            <a:off x="3611880" y="3493008"/>
            <a:ext cx="1097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B32D"/>
              </a:buClr>
              <a:buSzPts val="900"/>
              <a:buFont typeface="Roboto"/>
              <a:buNone/>
            </a:pPr>
            <a:r>
              <a:rPr b="1" i="0" lang="en-US" sz="900" u="none" cap="none" strike="noStrike">
                <a:solidFill>
                  <a:srgbClr val="FFB32D"/>
                </a:solidFill>
                <a:latin typeface="Roboto"/>
                <a:ea typeface="Roboto"/>
                <a:cs typeface="Roboto"/>
                <a:sym typeface="Roboto"/>
              </a:rPr>
              <a:t>OUTPUT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6"/>
          <p:cNvSpPr/>
          <p:nvPr/>
        </p:nvSpPr>
        <p:spPr>
          <a:xfrm>
            <a:off x="3611880" y="3794760"/>
            <a:ext cx="50292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Comprehensive account research stored in Apollo</a:t>
            </a:r>
            <a:r>
              <a:rPr lang="en-US" sz="12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,</a:t>
            </a:r>
            <a:r>
              <a:rPr b="0" i="0" lang="en-US" sz="12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2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searchable and actionable by Claude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343247"/>
        </a:solidFill>
      </p:bgPr>
    </p:bg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7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FB32D"/>
          </a:solidFill>
          <a:ln cap="flat" cmpd="sng" w="12700">
            <a:solidFill>
              <a:srgbClr val="FFB3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7"/>
          <p:cNvSpPr/>
          <p:nvPr/>
        </p:nvSpPr>
        <p:spPr>
          <a:xfrm>
            <a:off x="457200" y="256032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B32D"/>
              </a:buClr>
              <a:buSzPts val="1100"/>
              <a:buFont typeface="Roboto"/>
              <a:buNone/>
            </a:pPr>
            <a:r>
              <a:rPr b="1" i="0" lang="en-US" sz="1100" u="none" cap="none" strike="noStrike">
                <a:solidFill>
                  <a:srgbClr val="FFB32D"/>
                </a:solidFill>
                <a:latin typeface="Roboto"/>
                <a:ea typeface="Roboto"/>
                <a:cs typeface="Roboto"/>
                <a:sym typeface="Roboto"/>
              </a:rPr>
              <a:t>USE CASE 01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7"/>
          <p:cNvSpPr/>
          <p:nvPr/>
        </p:nvSpPr>
        <p:spPr>
          <a:xfrm>
            <a:off x="457200" y="594360"/>
            <a:ext cx="82296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League Gothic"/>
              <a:buNone/>
            </a:pPr>
            <a:r>
              <a:rPr b="1" i="0" lang="en-US" sz="4400" u="none" cap="none" strike="noStrike">
                <a:solidFill>
                  <a:srgbClr val="FFFFFF"/>
                </a:solidFill>
                <a:latin typeface="League Gothic"/>
                <a:ea typeface="League Gothic"/>
                <a:cs typeface="League Gothic"/>
                <a:sym typeface="League Gothic"/>
              </a:rPr>
              <a:t>Account Research &amp; Call Prep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7"/>
          <p:cNvSpPr/>
          <p:nvPr/>
        </p:nvSpPr>
        <p:spPr>
          <a:xfrm>
            <a:off x="457200" y="1463040"/>
            <a:ext cx="3840480" cy="3017520"/>
          </a:xfrm>
          <a:prstGeom prst="rect">
            <a:avLst/>
          </a:prstGeom>
          <a:solidFill>
            <a:srgbClr val="555261"/>
          </a:solidFill>
          <a:ln cap="flat" cmpd="sng" w="12700">
            <a:solidFill>
              <a:srgbClr val="6B68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7"/>
          <p:cNvSpPr/>
          <p:nvPr/>
        </p:nvSpPr>
        <p:spPr>
          <a:xfrm>
            <a:off x="457200" y="1463040"/>
            <a:ext cx="3840480" cy="411480"/>
          </a:xfrm>
          <a:prstGeom prst="rect">
            <a:avLst/>
          </a:prstGeom>
          <a:solidFill>
            <a:srgbClr val="6B6880"/>
          </a:solidFill>
          <a:ln cap="flat" cmpd="sng" w="12700">
            <a:solidFill>
              <a:srgbClr val="6B68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7"/>
          <p:cNvSpPr/>
          <p:nvPr/>
        </p:nvSpPr>
        <p:spPr>
          <a:xfrm>
            <a:off x="457200" y="1527048"/>
            <a:ext cx="38404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BEFORE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7"/>
          <p:cNvSpPr/>
          <p:nvPr/>
        </p:nvSpPr>
        <p:spPr>
          <a:xfrm>
            <a:off x="640080" y="2057400"/>
            <a:ext cx="3474600" cy="219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D4CFF5"/>
              </a:buClr>
              <a:buSzPts val="1300"/>
              <a:buFont typeface="Roboto"/>
              <a:buNone/>
            </a:pPr>
            <a:r>
              <a:rPr b="1" i="0" lang="en-US" sz="1300" u="none" cap="none" strike="noStrike">
                <a:solidFill>
                  <a:srgbClr val="D4CFF5"/>
                </a:solidFill>
                <a:latin typeface="Roboto"/>
                <a:ea typeface="Roboto"/>
                <a:cs typeface="Roboto"/>
                <a:sym typeface="Roboto"/>
              </a:rPr>
              <a:t>2+ hours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1150" lvl="0" marL="45720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D4CFF5"/>
              </a:buClr>
              <a:buSzPts val="1300"/>
              <a:buFont typeface="Roboto"/>
              <a:buChar char="-"/>
            </a:pPr>
            <a:r>
              <a:rPr lang="en-US" sz="1300">
                <a:solidFill>
                  <a:srgbClr val="D4CFF5"/>
                </a:solidFill>
                <a:latin typeface="Roboto"/>
                <a:ea typeface="Roboto"/>
                <a:cs typeface="Roboto"/>
                <a:sym typeface="Roboto"/>
              </a:rPr>
              <a:t>s</a:t>
            </a:r>
            <a:r>
              <a:rPr b="0" i="0" lang="en-US" sz="1300" u="none" cap="none" strike="noStrike">
                <a:solidFill>
                  <a:srgbClr val="D4CFF5"/>
                </a:solidFill>
                <a:latin typeface="Roboto"/>
                <a:ea typeface="Roboto"/>
                <a:cs typeface="Roboto"/>
                <a:sym typeface="Roboto"/>
              </a:rPr>
              <a:t>couring Gong, researching LinkedIn, and talking to SEs just to understand a single inherited account.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D4CFF5"/>
              </a:buClr>
              <a:buSzPts val="1300"/>
              <a:buFont typeface="Roboto"/>
              <a:buNone/>
            </a:pPr>
            <a:r>
              <a:rPr b="1" i="0" lang="en-US" sz="1300" u="none" cap="none" strike="noStrike">
                <a:solidFill>
                  <a:srgbClr val="D4CFF5"/>
                </a:solidFill>
                <a:latin typeface="Roboto"/>
                <a:ea typeface="Roboto"/>
                <a:cs typeface="Roboto"/>
                <a:sym typeface="Roboto"/>
              </a:rPr>
              <a:t>Static Google Doc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1150" lvl="0" marL="45720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D4CFF5"/>
              </a:buClr>
              <a:buSzPts val="1300"/>
              <a:buFont typeface="Roboto"/>
              <a:buChar char="-"/>
            </a:pPr>
            <a:r>
              <a:rPr lang="en-US" sz="1300">
                <a:solidFill>
                  <a:srgbClr val="D4CFF5"/>
                </a:solidFill>
                <a:latin typeface="Roboto"/>
                <a:ea typeface="Roboto"/>
                <a:cs typeface="Roboto"/>
                <a:sym typeface="Roboto"/>
              </a:rPr>
              <a:t>g</a:t>
            </a:r>
            <a:r>
              <a:rPr b="0" i="0" lang="en-US" sz="1300" u="none" cap="none" strike="noStrike">
                <a:solidFill>
                  <a:srgbClr val="D4CFF5"/>
                </a:solidFill>
                <a:latin typeface="Roboto"/>
                <a:ea typeface="Roboto"/>
                <a:cs typeface="Roboto"/>
                <a:sym typeface="Roboto"/>
              </a:rPr>
              <a:t>oes stale immediately.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D4CFF5"/>
              </a:buClr>
              <a:buSzPts val="1300"/>
              <a:buFont typeface="Roboto"/>
              <a:buNone/>
            </a:pPr>
            <a:r>
              <a:rPr b="1" i="0" lang="en-US" sz="1300" u="none" cap="none" strike="noStrike">
                <a:solidFill>
                  <a:srgbClr val="D4CFF5"/>
                </a:solidFill>
                <a:latin typeface="Roboto"/>
                <a:ea typeface="Roboto"/>
                <a:cs typeface="Roboto"/>
                <a:sym typeface="Roboto"/>
              </a:rPr>
              <a:t>Context lives in the rep's head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1150" lvl="0" marL="45720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D4CFF5"/>
              </a:buClr>
              <a:buSzPts val="1300"/>
              <a:buFont typeface="Roboto"/>
              <a:buChar char="-"/>
            </a:pPr>
            <a:r>
              <a:rPr lang="en-US" sz="1300">
                <a:solidFill>
                  <a:srgbClr val="D4CFF5"/>
                </a:solidFill>
                <a:latin typeface="Roboto"/>
                <a:ea typeface="Roboto"/>
                <a:cs typeface="Roboto"/>
                <a:sym typeface="Roboto"/>
              </a:rPr>
              <a:t>i</a:t>
            </a:r>
            <a:r>
              <a:rPr b="0" i="0" lang="en-US" sz="1300" u="none" cap="none" strike="noStrike">
                <a:solidFill>
                  <a:srgbClr val="D4CFF5"/>
                </a:solidFill>
                <a:latin typeface="Roboto"/>
                <a:ea typeface="Roboto"/>
                <a:cs typeface="Roboto"/>
                <a:sym typeface="Roboto"/>
              </a:rPr>
              <a:t>mpossible to transfer or action on.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7"/>
          <p:cNvSpPr/>
          <p:nvPr/>
        </p:nvSpPr>
        <p:spPr>
          <a:xfrm>
            <a:off x="4663440" y="1463040"/>
            <a:ext cx="4023360" cy="3017520"/>
          </a:xfrm>
          <a:prstGeom prst="rect">
            <a:avLst/>
          </a:prstGeom>
          <a:solidFill>
            <a:srgbClr val="555261"/>
          </a:solidFill>
          <a:ln cap="flat" cmpd="sng" w="19050">
            <a:solidFill>
              <a:srgbClr val="872DED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7"/>
          <p:cNvSpPr/>
          <p:nvPr/>
        </p:nvSpPr>
        <p:spPr>
          <a:xfrm>
            <a:off x="4663440" y="1463040"/>
            <a:ext cx="4023360" cy="411480"/>
          </a:xfrm>
          <a:prstGeom prst="rect">
            <a:avLst/>
          </a:prstGeom>
          <a:solidFill>
            <a:srgbClr val="872DED"/>
          </a:solidFill>
          <a:ln cap="flat" cmpd="sng" w="12700">
            <a:solidFill>
              <a:srgbClr val="872D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7"/>
          <p:cNvSpPr/>
          <p:nvPr/>
        </p:nvSpPr>
        <p:spPr>
          <a:xfrm>
            <a:off x="4663440" y="1527048"/>
            <a:ext cx="40233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AFTER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7"/>
          <p:cNvSpPr/>
          <p:nvPr/>
        </p:nvSpPr>
        <p:spPr>
          <a:xfrm>
            <a:off x="4846320" y="2057400"/>
            <a:ext cx="3657600" cy="2194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D4CFF5"/>
              </a:buClr>
              <a:buSzPts val="1300"/>
              <a:buFont typeface="Roboto"/>
              <a:buNone/>
            </a:pPr>
            <a:r>
              <a:rPr b="1" i="0" lang="en-US" sz="1300" u="none" cap="none" strike="noStrike">
                <a:solidFill>
                  <a:srgbClr val="D4CFF5"/>
                </a:solidFill>
                <a:latin typeface="Roboto"/>
                <a:ea typeface="Roboto"/>
                <a:cs typeface="Roboto"/>
                <a:sym typeface="Roboto"/>
              </a:rPr>
              <a:t>15 minutes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1150" lvl="0" marL="45720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D4CFF5"/>
              </a:buClr>
              <a:buSzPts val="1300"/>
              <a:buFont typeface="Roboto"/>
              <a:buChar char="-"/>
            </a:pPr>
            <a:r>
              <a:rPr b="0" i="0" lang="en-US" sz="1300" u="none" cap="none" strike="noStrike">
                <a:solidFill>
                  <a:srgbClr val="D4CFF5"/>
                </a:solidFill>
                <a:latin typeface="Roboto"/>
                <a:ea typeface="Roboto"/>
                <a:cs typeface="Roboto"/>
                <a:sym typeface="Roboto"/>
              </a:rPr>
              <a:t>after inheriting an account, a full context brief is ready</a:t>
            </a:r>
            <a:r>
              <a:rPr lang="en-US" sz="1300">
                <a:solidFill>
                  <a:srgbClr val="D4CFF5"/>
                </a:solidFill>
                <a:latin typeface="Roboto"/>
                <a:ea typeface="Roboto"/>
                <a:cs typeface="Roboto"/>
                <a:sym typeface="Roboto"/>
              </a:rPr>
              <a:t>. </a:t>
            </a:r>
            <a:r>
              <a:rPr b="0" i="0" lang="en-US" sz="1300" u="none" cap="none" strike="noStrike">
                <a:solidFill>
                  <a:srgbClr val="D4CFF5"/>
                </a:solidFill>
                <a:latin typeface="Roboto"/>
                <a:ea typeface="Roboto"/>
                <a:cs typeface="Roboto"/>
                <a:sym typeface="Roboto"/>
              </a:rPr>
              <a:t>Gong history, web research, visit signals, open opps.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D4CFF5"/>
              </a:buClr>
              <a:buSzPts val="1300"/>
              <a:buFont typeface="Roboto"/>
              <a:buNone/>
            </a:pPr>
            <a:r>
              <a:rPr b="1" i="0" lang="en-US" sz="1300" u="none" cap="none" strike="noStrike">
                <a:solidFill>
                  <a:srgbClr val="D4CFF5"/>
                </a:solidFill>
                <a:latin typeface="Roboto"/>
                <a:ea typeface="Roboto"/>
                <a:cs typeface="Roboto"/>
                <a:sym typeface="Roboto"/>
              </a:rPr>
              <a:t>Live context in Apollo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1150" lvl="0" marL="45720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D4CFF5"/>
              </a:buClr>
              <a:buSzPts val="1300"/>
              <a:buFont typeface="Roboto"/>
              <a:buChar char="-"/>
            </a:pPr>
            <a:r>
              <a:rPr b="0" i="0" lang="en-US" sz="1300" u="none" cap="none" strike="noStrike">
                <a:solidFill>
                  <a:srgbClr val="D4CFF5"/>
                </a:solidFill>
                <a:latin typeface="Roboto"/>
                <a:ea typeface="Roboto"/>
                <a:cs typeface="Roboto"/>
                <a:sym typeface="Roboto"/>
              </a:rPr>
              <a:t>queryable by </a:t>
            </a:r>
            <a:r>
              <a:rPr lang="en-US" sz="1300">
                <a:solidFill>
                  <a:srgbClr val="D4CFF5"/>
                </a:solidFill>
                <a:latin typeface="Roboto"/>
                <a:ea typeface="Roboto"/>
                <a:cs typeface="Roboto"/>
                <a:sym typeface="Roboto"/>
              </a:rPr>
              <a:t>Claude</a:t>
            </a:r>
            <a:r>
              <a:rPr b="0" i="0" lang="en-US" sz="1300" u="none" cap="none" strike="noStrike">
                <a:solidFill>
                  <a:srgbClr val="D4CFF5"/>
                </a:solidFill>
                <a:latin typeface="Roboto"/>
                <a:ea typeface="Roboto"/>
                <a:cs typeface="Roboto"/>
                <a:sym typeface="Roboto"/>
              </a:rPr>
              <a:t> at any time.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B32D"/>
              </a:buClr>
              <a:buSzPts val="1300"/>
              <a:buFont typeface="Roboto"/>
              <a:buNone/>
            </a:pPr>
            <a:r>
              <a:rPr b="1" i="0" lang="en-US" sz="1300" u="none" cap="none" strike="noStrike">
                <a:solidFill>
                  <a:srgbClr val="FFB32D"/>
                </a:solidFill>
                <a:latin typeface="Roboto"/>
                <a:ea typeface="Roboto"/>
                <a:cs typeface="Roboto"/>
                <a:sym typeface="Roboto"/>
              </a:rPr>
              <a:t>Example: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1150" lvl="0" marL="45720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D4CFF5"/>
              </a:buClr>
              <a:buSzPts val="1300"/>
              <a:buFont typeface="Roboto"/>
              <a:buChar char="-"/>
            </a:pPr>
            <a:r>
              <a:rPr b="0" i="0" lang="en-US" sz="1300" u="none" cap="none" strike="noStrike">
                <a:solidFill>
                  <a:srgbClr val="D4CFF5"/>
                </a:solidFill>
                <a:latin typeface="Roboto"/>
                <a:ea typeface="Roboto"/>
                <a:cs typeface="Roboto"/>
                <a:sym typeface="Roboto"/>
              </a:rPr>
              <a:t>Grindr inherited account</a:t>
            </a:r>
            <a:r>
              <a:rPr lang="en-US" sz="1300">
                <a:solidFill>
                  <a:srgbClr val="D4CFF5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  <a:r>
              <a:rPr b="0" i="0" lang="en-US" sz="1300" u="none" cap="none" strike="noStrike">
                <a:solidFill>
                  <a:srgbClr val="D4CFF5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300">
                <a:solidFill>
                  <a:srgbClr val="D4CFF5"/>
                </a:solidFill>
                <a:latin typeface="Roboto"/>
                <a:ea typeface="Roboto"/>
                <a:cs typeface="Roboto"/>
                <a:sym typeface="Roboto"/>
              </a:rPr>
              <a:t>P</a:t>
            </a:r>
            <a:r>
              <a:rPr b="0" i="0" lang="en-US" sz="1300" u="none" cap="none" strike="noStrike">
                <a:solidFill>
                  <a:srgbClr val="D4CFF5"/>
                </a:solidFill>
                <a:latin typeface="Roboto"/>
                <a:ea typeface="Roboto"/>
                <a:cs typeface="Roboto"/>
                <a:sym typeface="Roboto"/>
              </a:rPr>
              <a:t>ersonalized outbound sent within 15 min of handoff.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ECE5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8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872DED"/>
          </a:solidFill>
          <a:ln cap="flat" cmpd="sng" w="12700">
            <a:solidFill>
              <a:srgbClr val="872D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8"/>
          <p:cNvSpPr/>
          <p:nvPr/>
        </p:nvSpPr>
        <p:spPr>
          <a:xfrm>
            <a:off x="457200" y="256032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72DED"/>
              </a:buClr>
              <a:buSzPts val="1100"/>
              <a:buFont typeface="Roboto"/>
              <a:buNone/>
            </a:pPr>
            <a:r>
              <a:rPr b="1" i="0" lang="en-US" sz="1100" u="none" cap="none" strike="noStrike">
                <a:solidFill>
                  <a:srgbClr val="872DED"/>
                </a:solidFill>
                <a:latin typeface="Roboto"/>
                <a:ea typeface="Roboto"/>
                <a:cs typeface="Roboto"/>
                <a:sym typeface="Roboto"/>
              </a:rPr>
              <a:t>USE CASE 02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8"/>
          <p:cNvSpPr/>
          <p:nvPr/>
        </p:nvSpPr>
        <p:spPr>
          <a:xfrm>
            <a:off x="457200" y="594360"/>
            <a:ext cx="82296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43247"/>
              </a:buClr>
              <a:buSzPts val="4400"/>
              <a:buFont typeface="League Gothic"/>
              <a:buNone/>
            </a:pPr>
            <a:r>
              <a:rPr b="1" i="0" lang="en-US" sz="4400" u="none" cap="none" strike="noStrike">
                <a:solidFill>
                  <a:srgbClr val="343247"/>
                </a:solidFill>
                <a:latin typeface="League Gothic"/>
                <a:ea typeface="League Gothic"/>
                <a:cs typeface="League Gothic"/>
                <a:sym typeface="League Gothic"/>
              </a:rPr>
              <a:t>Deal Gaps &amp; Pipeline Analysis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8"/>
          <p:cNvSpPr/>
          <p:nvPr/>
        </p:nvSpPr>
        <p:spPr>
          <a:xfrm>
            <a:off x="457200" y="1508760"/>
            <a:ext cx="4114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43247"/>
              </a:buClr>
              <a:buSzPts val="1400"/>
              <a:buFont typeface="Roboto"/>
              <a:buNone/>
            </a:pPr>
            <a:r>
              <a:rPr b="1" i="0" lang="en-US" sz="1400" u="none" cap="none" strike="noStrike">
                <a:solidFill>
                  <a:srgbClr val="343247"/>
                </a:solidFill>
                <a:latin typeface="Roboto"/>
                <a:ea typeface="Roboto"/>
                <a:cs typeface="Roboto"/>
                <a:sym typeface="Roboto"/>
              </a:rPr>
              <a:t>How it works: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8"/>
          <p:cNvSpPr/>
          <p:nvPr/>
        </p:nvSpPr>
        <p:spPr>
          <a:xfrm>
            <a:off x="457200" y="1920240"/>
            <a:ext cx="4023360" cy="2560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55261"/>
              </a:buClr>
              <a:buSzPts val="1300"/>
              <a:buFont typeface="Roboto"/>
              <a:buNone/>
            </a:pPr>
            <a:r>
              <a:rPr b="1" i="0" lang="en-US" sz="1300" u="none" cap="none" strike="noStrike">
                <a:solidFill>
                  <a:srgbClr val="555261"/>
                </a:solidFill>
                <a:latin typeface="Roboto"/>
                <a:ea typeface="Roboto"/>
                <a:cs typeface="Roboto"/>
                <a:sym typeface="Roboto"/>
              </a:rPr>
              <a:t>Pull Gong transcripts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115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55261"/>
              </a:buClr>
              <a:buSzPts val="1300"/>
              <a:buFont typeface="Roboto"/>
              <a:buChar char="-"/>
            </a:pPr>
            <a:r>
              <a:rPr b="0" i="0" lang="en-US" sz="1300" u="none" cap="none" strike="noStrike">
                <a:solidFill>
                  <a:srgbClr val="555261"/>
                </a:solidFill>
                <a:latin typeface="Roboto"/>
                <a:ea typeface="Roboto"/>
                <a:cs typeface="Roboto"/>
                <a:sym typeface="Roboto"/>
              </a:rPr>
              <a:t>for any deal in your pipeline.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55261"/>
              </a:buClr>
              <a:buSzPts val="1300"/>
              <a:buFont typeface="Roboto"/>
              <a:buNone/>
            </a:pPr>
            <a:r>
              <a:rPr b="1" i="0" lang="en-US" sz="1300" u="none" cap="none" strike="noStrike">
                <a:solidFill>
                  <a:srgbClr val="555261"/>
                </a:solidFill>
                <a:latin typeface="Roboto"/>
                <a:ea typeface="Roboto"/>
                <a:cs typeface="Roboto"/>
                <a:sym typeface="Roboto"/>
              </a:rPr>
              <a:t>Ask the agent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115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55261"/>
              </a:buClr>
              <a:buSzPts val="1300"/>
              <a:buFont typeface="Roboto"/>
              <a:buChar char="-"/>
            </a:pPr>
            <a:r>
              <a:rPr b="0" i="0" lang="en-US" sz="1300" u="none" cap="none" strike="noStrike">
                <a:solidFill>
                  <a:srgbClr val="555261"/>
                </a:solidFill>
                <a:latin typeface="Roboto"/>
                <a:ea typeface="Roboto"/>
                <a:cs typeface="Roboto"/>
                <a:sym typeface="Roboto"/>
              </a:rPr>
              <a:t>what's missing</a:t>
            </a:r>
            <a:r>
              <a:rPr lang="en-US" sz="1300">
                <a:solidFill>
                  <a:srgbClr val="555261"/>
                </a:solidFill>
                <a:latin typeface="Roboto"/>
                <a:ea typeface="Roboto"/>
                <a:cs typeface="Roboto"/>
                <a:sym typeface="Roboto"/>
              </a:rPr>
              <a:t>? </a:t>
            </a:r>
            <a:r>
              <a:rPr b="0" i="0" lang="en-US" sz="1300" u="none" cap="none" strike="noStrike">
                <a:solidFill>
                  <a:srgbClr val="555261"/>
                </a:solidFill>
                <a:latin typeface="Roboto"/>
                <a:ea typeface="Roboto"/>
                <a:cs typeface="Roboto"/>
                <a:sym typeface="Roboto"/>
              </a:rPr>
              <a:t>missing stakeholders, unaddressed objections, unclear next steps.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55261"/>
              </a:buClr>
              <a:buSzPts val="1300"/>
              <a:buFont typeface="Roboto"/>
              <a:buNone/>
            </a:pPr>
            <a:r>
              <a:rPr b="1" i="0" lang="en-US" sz="1300" u="none" cap="none" strike="noStrike">
                <a:solidFill>
                  <a:srgbClr val="555261"/>
                </a:solidFill>
                <a:latin typeface="Roboto"/>
                <a:ea typeface="Roboto"/>
                <a:cs typeface="Roboto"/>
                <a:sym typeface="Roboto"/>
              </a:rPr>
              <a:t>Get a deal brief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115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55261"/>
              </a:buClr>
              <a:buSzPts val="1300"/>
              <a:buFont typeface="Roboto"/>
              <a:buChar char="-"/>
            </a:pPr>
            <a:r>
              <a:rPr b="0" i="0" lang="en-US" sz="1300" u="none" cap="none" strike="noStrike">
                <a:solidFill>
                  <a:srgbClr val="555261"/>
                </a:solidFill>
                <a:latin typeface="Roboto"/>
                <a:ea typeface="Roboto"/>
                <a:cs typeface="Roboto"/>
                <a:sym typeface="Roboto"/>
              </a:rPr>
              <a:t>with a structured gap analysis and recommended actions before your next call.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8"/>
          <p:cNvSpPr/>
          <p:nvPr/>
        </p:nvSpPr>
        <p:spPr>
          <a:xfrm>
            <a:off x="4754880" y="1417320"/>
            <a:ext cx="3931920" cy="3337560"/>
          </a:xfrm>
          <a:prstGeom prst="rect">
            <a:avLst/>
          </a:prstGeom>
          <a:solidFill>
            <a:srgbClr val="343247"/>
          </a:solidFill>
          <a:ln cap="flat" cmpd="sng" w="19050">
            <a:solidFill>
              <a:srgbClr val="872DED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8"/>
          <p:cNvSpPr/>
          <p:nvPr/>
        </p:nvSpPr>
        <p:spPr>
          <a:xfrm>
            <a:off x="4754880" y="1417320"/>
            <a:ext cx="3931920" cy="54864"/>
          </a:xfrm>
          <a:prstGeom prst="rect">
            <a:avLst/>
          </a:prstGeom>
          <a:solidFill>
            <a:srgbClr val="FFB32D"/>
          </a:solidFill>
          <a:ln cap="flat" cmpd="sng" w="12700">
            <a:solidFill>
              <a:srgbClr val="FFB3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8"/>
          <p:cNvSpPr/>
          <p:nvPr/>
        </p:nvSpPr>
        <p:spPr>
          <a:xfrm>
            <a:off x="4892040" y="1536192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B32D"/>
              </a:buClr>
              <a:buSzPts val="1000"/>
              <a:buFont typeface="Roboto"/>
              <a:buNone/>
            </a:pPr>
            <a:r>
              <a:rPr b="1" i="0" lang="en-US" sz="1000" u="none" cap="none" strike="noStrike">
                <a:solidFill>
                  <a:srgbClr val="FFB32D"/>
                </a:solidFill>
                <a:latin typeface="Roboto"/>
                <a:ea typeface="Roboto"/>
                <a:cs typeface="Roboto"/>
                <a:sym typeface="Roboto"/>
              </a:rPr>
              <a:t>EXAMPLE: Apollo deal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8"/>
          <p:cNvSpPr/>
          <p:nvPr/>
        </p:nvSpPr>
        <p:spPr>
          <a:xfrm>
            <a:off x="4892040" y="1874520"/>
            <a:ext cx="3657600" cy="274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Gaps found: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D4CFF5"/>
              </a:buClr>
              <a:buSzPts val="1200"/>
              <a:buFont typeface="Roboto"/>
              <a:buNone/>
            </a:pPr>
            <a:r>
              <a:rPr b="0" i="0" lang="en-US" sz="1200" u="none" cap="none" strike="noStrike">
                <a:solidFill>
                  <a:srgbClr val="D4CFF5"/>
                </a:solidFill>
                <a:latin typeface="Roboto"/>
                <a:ea typeface="Roboto"/>
                <a:cs typeface="Roboto"/>
                <a:sym typeface="Roboto"/>
              </a:rPr>
              <a:t>• Economic buyer not engaged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D4CFF5"/>
              </a:buClr>
              <a:buSzPts val="1200"/>
              <a:buFont typeface="Roboto"/>
              <a:buNone/>
            </a:pPr>
            <a:r>
              <a:rPr b="0" i="0" lang="en-US" sz="1200" u="none" cap="none" strike="noStrike">
                <a:solidFill>
                  <a:srgbClr val="D4CFF5"/>
                </a:solidFill>
                <a:latin typeface="Roboto"/>
                <a:ea typeface="Roboto"/>
                <a:cs typeface="Roboto"/>
                <a:sym typeface="Roboto"/>
              </a:rPr>
              <a:t>• No defined success criteria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D4CFF5"/>
              </a:buClr>
              <a:buSzPts val="1200"/>
              <a:buFont typeface="Roboto"/>
              <a:buNone/>
            </a:pPr>
            <a:r>
              <a:rPr b="0" i="0" lang="en-US" sz="1200" u="none" cap="none" strike="noStrike">
                <a:solidFill>
                  <a:srgbClr val="D4CFF5"/>
                </a:solidFill>
                <a:latin typeface="Roboto"/>
                <a:ea typeface="Roboto"/>
                <a:cs typeface="Roboto"/>
                <a:sym typeface="Roboto"/>
              </a:rPr>
              <a:t>• Security objection unaddressed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D4CFF5"/>
              </a:buClr>
              <a:buSzPts val="1200"/>
              <a:buFont typeface="Roboto"/>
              <a:buNone/>
            </a:pPr>
            <a:r>
              <a:rPr b="0" i="0" lang="en-US" sz="1200" u="none" cap="none" strike="noStrike">
                <a:solidFill>
                  <a:srgbClr val="D4CFF5"/>
                </a:solidFill>
                <a:latin typeface="Roboto"/>
                <a:ea typeface="Roboto"/>
                <a:cs typeface="Roboto"/>
                <a:sym typeface="Roboto"/>
              </a:rPr>
              <a:t>• Timeline assumes IT availability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Recommended actions: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D4CFF5"/>
              </a:buClr>
              <a:buSzPts val="1200"/>
              <a:buFont typeface="Roboto"/>
              <a:buNone/>
            </a:pPr>
            <a:r>
              <a:rPr b="0" i="0" lang="en-US" sz="1200" u="none" cap="none" strike="noStrike">
                <a:solidFill>
                  <a:srgbClr val="D4CFF5"/>
                </a:solidFill>
                <a:latin typeface="Roboto"/>
                <a:ea typeface="Roboto"/>
                <a:cs typeface="Roboto"/>
                <a:sym typeface="Roboto"/>
              </a:rPr>
              <a:t>• Schedule exec alignment call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D4CFF5"/>
              </a:buClr>
              <a:buSzPts val="1200"/>
              <a:buFont typeface="Roboto"/>
              <a:buNone/>
            </a:pPr>
            <a:r>
              <a:rPr b="0" i="0" lang="en-US" sz="1200" u="none" cap="none" strike="noStrike">
                <a:solidFill>
                  <a:srgbClr val="D4CFF5"/>
                </a:solidFill>
                <a:latin typeface="Roboto"/>
                <a:ea typeface="Roboto"/>
                <a:cs typeface="Roboto"/>
                <a:sym typeface="Roboto"/>
              </a:rPr>
              <a:t>• Send POC success criteria doc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D4CFF5"/>
              </a:buClr>
              <a:buSzPts val="1200"/>
              <a:buFont typeface="Roboto"/>
              <a:buNone/>
            </a:pPr>
            <a:r>
              <a:rPr b="0" i="0" lang="en-US" sz="1200" u="none" cap="none" strike="noStrike">
                <a:solidFill>
                  <a:srgbClr val="D4CFF5"/>
                </a:solidFill>
                <a:latin typeface="Roboto"/>
                <a:ea typeface="Roboto"/>
                <a:cs typeface="Roboto"/>
                <a:sym typeface="Roboto"/>
              </a:rPr>
              <a:t>• Loop in SE for security review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D4CFF5"/>
              </a:buClr>
              <a:buSzPts val="1200"/>
              <a:buFont typeface="Roboto"/>
              <a:buNone/>
            </a:pPr>
            <a:r>
              <a:rPr b="0" i="0" lang="en-US" sz="1200" u="none" cap="none" strike="noStrike">
                <a:solidFill>
                  <a:srgbClr val="D4CFF5"/>
                </a:solidFill>
                <a:latin typeface="Roboto"/>
                <a:ea typeface="Roboto"/>
                <a:cs typeface="Roboto"/>
                <a:sym typeface="Roboto"/>
              </a:rPr>
              <a:t>• Confirm IT bandwidth w/ Eric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343247"/>
        </a:solidFill>
      </p:bgPr>
    </p:bg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9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FB32D"/>
          </a:solidFill>
          <a:ln cap="flat" cmpd="sng" w="12700">
            <a:solidFill>
              <a:srgbClr val="FFB3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9"/>
          <p:cNvSpPr/>
          <p:nvPr/>
        </p:nvSpPr>
        <p:spPr>
          <a:xfrm>
            <a:off x="457200" y="256032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B32D"/>
              </a:buClr>
              <a:buSzPts val="1100"/>
              <a:buFont typeface="Roboto"/>
              <a:buNone/>
            </a:pPr>
            <a:r>
              <a:rPr b="1" i="0" lang="en-US" sz="1100" u="none" cap="none" strike="noStrike">
                <a:solidFill>
                  <a:srgbClr val="FFB32D"/>
                </a:solidFill>
                <a:latin typeface="Roboto"/>
                <a:ea typeface="Roboto"/>
                <a:cs typeface="Roboto"/>
                <a:sym typeface="Roboto"/>
              </a:rPr>
              <a:t>USE CASE 03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9"/>
          <p:cNvSpPr/>
          <p:nvPr/>
        </p:nvSpPr>
        <p:spPr>
          <a:xfrm>
            <a:off x="457200" y="594360"/>
            <a:ext cx="82296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League Gothic"/>
              <a:buNone/>
            </a:pPr>
            <a:r>
              <a:rPr b="1" i="0" lang="en-US" sz="4400" u="none" cap="none" strike="noStrike">
                <a:solidFill>
                  <a:srgbClr val="FFFFFF"/>
                </a:solidFill>
                <a:latin typeface="League Gothic"/>
                <a:ea typeface="League Gothic"/>
                <a:cs typeface="League Gothic"/>
                <a:sym typeface="League Gothic"/>
              </a:rPr>
              <a:t>Outbound Wins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9"/>
          <p:cNvSpPr/>
          <p:nvPr/>
        </p:nvSpPr>
        <p:spPr>
          <a:xfrm>
            <a:off x="457200" y="1417320"/>
            <a:ext cx="2286000" cy="2011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B32D"/>
              </a:buClr>
              <a:buSzPts val="16000"/>
              <a:buFont typeface="League Gothic"/>
              <a:buNone/>
            </a:pPr>
            <a:r>
              <a:rPr b="1" i="0" lang="en-US" sz="16000" u="none" cap="none" strike="noStrike">
                <a:solidFill>
                  <a:srgbClr val="FFB32D"/>
                </a:solidFill>
                <a:latin typeface="League Gothic"/>
                <a:ea typeface="League Gothic"/>
                <a:cs typeface="League Gothic"/>
                <a:sym typeface="League Gothic"/>
              </a:rPr>
              <a:t>5</a:t>
            </a:r>
            <a:endParaRPr b="0" i="0" sz="16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9"/>
          <p:cNvSpPr/>
          <p:nvPr/>
        </p:nvSpPr>
        <p:spPr>
          <a:xfrm>
            <a:off x="457200" y="3291840"/>
            <a:ext cx="22860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4CFF5"/>
              </a:buClr>
              <a:buSzPts val="1400"/>
              <a:buFont typeface="Roboto"/>
              <a:buNone/>
            </a:pPr>
            <a:r>
              <a:rPr b="0" i="0" lang="en-US" sz="1400" u="none" cap="none" strike="noStrike">
                <a:solidFill>
                  <a:srgbClr val="D4CFF5"/>
                </a:solidFill>
                <a:latin typeface="Roboto"/>
                <a:ea typeface="Roboto"/>
                <a:cs typeface="Roboto"/>
                <a:sym typeface="Roboto"/>
              </a:rPr>
              <a:t>meetings booked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4CFF5"/>
              </a:buClr>
              <a:buSzPts val="1400"/>
              <a:buFont typeface="Roboto"/>
              <a:buNone/>
            </a:pPr>
            <a:r>
              <a:rPr lang="en-US">
                <a:solidFill>
                  <a:srgbClr val="D4CFF5"/>
                </a:solidFill>
                <a:latin typeface="Roboto"/>
                <a:ea typeface="Roboto"/>
                <a:cs typeface="Roboto"/>
                <a:sym typeface="Roboto"/>
              </a:rPr>
              <a:t>in the first week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9"/>
          <p:cNvSpPr/>
          <p:nvPr/>
        </p:nvSpPr>
        <p:spPr>
          <a:xfrm>
            <a:off x="3108960" y="1417320"/>
            <a:ext cx="55778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Roboto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How it happened: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9"/>
          <p:cNvSpPr/>
          <p:nvPr/>
        </p:nvSpPr>
        <p:spPr>
          <a:xfrm>
            <a:off x="3108960" y="1874520"/>
            <a:ext cx="5577840" cy="2606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D4CFF5"/>
              </a:buClr>
              <a:buSzPts val="1300"/>
              <a:buFont typeface="Roboto"/>
              <a:buNone/>
            </a:pPr>
            <a:r>
              <a:rPr b="1" i="0" lang="en-US" sz="1300" u="none" cap="none" strike="noStrike">
                <a:solidFill>
                  <a:srgbClr val="D4CFF5"/>
                </a:solidFill>
                <a:latin typeface="Roboto"/>
                <a:ea typeface="Roboto"/>
                <a:cs typeface="Roboto"/>
                <a:sym typeface="Roboto"/>
              </a:rPr>
              <a:t>Account research stored in Apollo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115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D4CFF5"/>
              </a:buClr>
              <a:buSzPts val="1300"/>
              <a:buFont typeface="Roboto"/>
              <a:buChar char="-"/>
            </a:pPr>
            <a:r>
              <a:rPr b="0" i="0" lang="en-US" sz="1300" u="none" cap="none" strike="noStrike">
                <a:solidFill>
                  <a:srgbClr val="D4CFF5"/>
                </a:solidFill>
                <a:latin typeface="Roboto"/>
                <a:ea typeface="Roboto"/>
                <a:cs typeface="Roboto"/>
                <a:sym typeface="Roboto"/>
              </a:rPr>
              <a:t>provided full context on ICP accounts before any outreach.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D4CFF5"/>
              </a:buClr>
              <a:buSzPts val="1300"/>
              <a:buFont typeface="Roboto"/>
              <a:buNone/>
            </a:pPr>
            <a:r>
              <a:rPr b="1" i="0" lang="en-US" sz="1300" u="none" cap="none" strike="noStrike">
                <a:solidFill>
                  <a:srgbClr val="D4CFF5"/>
                </a:solidFill>
                <a:latin typeface="Roboto"/>
                <a:ea typeface="Roboto"/>
                <a:cs typeface="Roboto"/>
                <a:sym typeface="Roboto"/>
              </a:rPr>
              <a:t>Personalized messaging at scale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115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D4CFF5"/>
              </a:buClr>
              <a:buSzPts val="1300"/>
              <a:buFont typeface="Roboto"/>
              <a:buChar char="-"/>
            </a:pPr>
            <a:r>
              <a:rPr b="0" i="0" lang="en-US" sz="1300" u="none" cap="none" strike="noStrike">
                <a:solidFill>
                  <a:srgbClr val="D4CFF5"/>
                </a:solidFill>
                <a:latin typeface="Roboto"/>
                <a:ea typeface="Roboto"/>
                <a:cs typeface="Roboto"/>
                <a:sym typeface="Roboto"/>
              </a:rPr>
              <a:t>not generic blasts, but outbound informed by Gong history, Leadfeeder visits, web research</a:t>
            </a:r>
            <a:r>
              <a:rPr lang="en-US" sz="1300">
                <a:solidFill>
                  <a:srgbClr val="D4CFF5"/>
                </a:solidFill>
                <a:latin typeface="Roboto"/>
                <a:ea typeface="Roboto"/>
                <a:cs typeface="Roboto"/>
                <a:sym typeface="Roboto"/>
              </a:rPr>
              <a:t>, and more.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D4CFF5"/>
              </a:buClr>
              <a:buSzPts val="1300"/>
              <a:buFont typeface="Roboto"/>
              <a:buNone/>
            </a:pPr>
            <a:r>
              <a:rPr b="1" i="0" lang="en-US" sz="1300" u="none" cap="none" strike="noStrike">
                <a:solidFill>
                  <a:srgbClr val="D4CFF5"/>
                </a:solidFill>
                <a:latin typeface="Roboto"/>
                <a:ea typeface="Roboto"/>
                <a:cs typeface="Roboto"/>
                <a:sym typeface="Roboto"/>
              </a:rPr>
              <a:t>Discovery plans generated automatically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115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D4CFF5"/>
              </a:buClr>
              <a:buSzPts val="1300"/>
              <a:buFont typeface="Roboto"/>
              <a:buChar char="-"/>
            </a:pPr>
            <a:r>
              <a:rPr b="0" i="0" lang="en-US" sz="1300" u="none" cap="none" strike="noStrike">
                <a:solidFill>
                  <a:srgbClr val="D4CFF5"/>
                </a:solidFill>
                <a:latin typeface="Roboto"/>
                <a:ea typeface="Roboto"/>
                <a:cs typeface="Roboto"/>
                <a:sym typeface="Roboto"/>
              </a:rPr>
              <a:t>for MQL discos</a:t>
            </a:r>
            <a:r>
              <a:rPr lang="en-US" sz="1300">
                <a:solidFill>
                  <a:srgbClr val="D4CFF5"/>
                </a:solidFill>
                <a:latin typeface="Roboto"/>
                <a:ea typeface="Roboto"/>
                <a:cs typeface="Roboto"/>
                <a:sym typeface="Roboto"/>
              </a:rPr>
              <a:t>:</a:t>
            </a:r>
            <a:r>
              <a:rPr b="0" i="0" lang="en-US" sz="1300" u="none" cap="none" strike="noStrike">
                <a:solidFill>
                  <a:srgbClr val="D4CFF5"/>
                </a:solidFill>
                <a:latin typeface="Roboto"/>
                <a:ea typeface="Roboto"/>
                <a:cs typeface="Roboto"/>
                <a:sym typeface="Roboto"/>
              </a:rPr>
              <a:t> PharmX, Metris Energy, and others moved to S2 with AI-drafted prep notes.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9"/>
          <p:cNvSpPr/>
          <p:nvPr/>
        </p:nvSpPr>
        <p:spPr>
          <a:xfrm>
            <a:off x="2880360" y="1417320"/>
            <a:ext cx="36576" cy="2926080"/>
          </a:xfrm>
          <a:prstGeom prst="rect">
            <a:avLst/>
          </a:prstGeom>
          <a:solidFill>
            <a:srgbClr val="872DED"/>
          </a:solidFill>
          <a:ln cap="flat" cmpd="sng" w="12700">
            <a:solidFill>
              <a:srgbClr val="872D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ECE5"/>
        </a:solidFill>
      </p:bgPr>
    </p:bg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1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872DED"/>
          </a:solidFill>
          <a:ln cap="flat" cmpd="sng" w="12700">
            <a:solidFill>
              <a:srgbClr val="872D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10"/>
          <p:cNvSpPr/>
          <p:nvPr/>
        </p:nvSpPr>
        <p:spPr>
          <a:xfrm>
            <a:off x="457200" y="256032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72DED"/>
              </a:buClr>
              <a:buSzPts val="1100"/>
              <a:buFont typeface="Roboto"/>
              <a:buNone/>
            </a:pPr>
            <a:r>
              <a:rPr b="1" i="0" lang="en-US" sz="1100" u="none" cap="none" strike="noStrike">
                <a:solidFill>
                  <a:srgbClr val="872DED"/>
                </a:solidFill>
                <a:latin typeface="Roboto"/>
                <a:ea typeface="Roboto"/>
                <a:cs typeface="Roboto"/>
                <a:sym typeface="Roboto"/>
              </a:rPr>
              <a:t>FORECASTING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10"/>
          <p:cNvSpPr/>
          <p:nvPr/>
        </p:nvSpPr>
        <p:spPr>
          <a:xfrm>
            <a:off x="457200" y="594360"/>
            <a:ext cx="82296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43247"/>
              </a:buClr>
              <a:buSzPts val="3600"/>
              <a:buFont typeface="League Gothic"/>
              <a:buNone/>
            </a:pPr>
            <a:r>
              <a:rPr b="1" i="0" lang="en-US" sz="3600" u="none" cap="none" strike="noStrike">
                <a:solidFill>
                  <a:srgbClr val="343247"/>
                </a:solidFill>
                <a:latin typeface="League Gothic"/>
                <a:ea typeface="League Gothic"/>
                <a:cs typeface="League Gothic"/>
                <a:sym typeface="League Gothic"/>
              </a:rPr>
              <a:t>AI-assisted forecasting: from gut checks to data</a:t>
            </a:r>
            <a:r>
              <a:rPr b="1" lang="en-US" sz="3600">
                <a:solidFill>
                  <a:srgbClr val="343247"/>
                </a:solidFill>
                <a:latin typeface="League Gothic"/>
                <a:ea typeface="League Gothic"/>
                <a:cs typeface="League Gothic"/>
                <a:sym typeface="League Gothic"/>
              </a:rPr>
              <a:t>-driven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10"/>
          <p:cNvSpPr/>
          <p:nvPr/>
        </p:nvSpPr>
        <p:spPr>
          <a:xfrm>
            <a:off x="457200" y="1508760"/>
            <a:ext cx="3840480" cy="2926080"/>
          </a:xfrm>
          <a:prstGeom prst="rect">
            <a:avLst/>
          </a:prstGeom>
          <a:solidFill>
            <a:srgbClr val="EDE9E3"/>
          </a:solidFill>
          <a:ln cap="flat" cmpd="sng" w="12700">
            <a:solidFill>
              <a:srgbClr val="C8C2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10"/>
          <p:cNvSpPr/>
          <p:nvPr/>
        </p:nvSpPr>
        <p:spPr>
          <a:xfrm>
            <a:off x="457200" y="1508760"/>
            <a:ext cx="3840480" cy="411480"/>
          </a:xfrm>
          <a:prstGeom prst="rect">
            <a:avLst/>
          </a:prstGeom>
          <a:solidFill>
            <a:srgbClr val="B0A898"/>
          </a:solidFill>
          <a:ln cap="flat" cmpd="sng" w="12700">
            <a:solidFill>
              <a:srgbClr val="B0A89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10"/>
          <p:cNvSpPr/>
          <p:nvPr/>
        </p:nvSpPr>
        <p:spPr>
          <a:xfrm>
            <a:off x="457200" y="1572768"/>
            <a:ext cx="3840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TODAY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10"/>
          <p:cNvSpPr/>
          <p:nvPr/>
        </p:nvSpPr>
        <p:spPr>
          <a:xfrm>
            <a:off x="640080" y="2103120"/>
            <a:ext cx="3474720" cy="2194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55261"/>
              </a:buClr>
              <a:buSzPts val="1300"/>
              <a:buFont typeface="Roboto"/>
              <a:buNone/>
            </a:pPr>
            <a:r>
              <a:rPr b="1" i="0" lang="en-US" sz="1300" u="none" cap="none" strike="noStrike">
                <a:solidFill>
                  <a:srgbClr val="555261"/>
                </a:solidFill>
                <a:latin typeface="Roboto"/>
                <a:ea typeface="Roboto"/>
                <a:cs typeface="Roboto"/>
                <a:sym typeface="Roboto"/>
              </a:rPr>
              <a:t>1.</a:t>
            </a:r>
            <a:r>
              <a:rPr b="0" i="0" lang="en-US" sz="1300" u="none" cap="none" strike="noStrike">
                <a:solidFill>
                  <a:srgbClr val="555261"/>
                </a:solidFill>
                <a:latin typeface="Roboto"/>
                <a:ea typeface="Roboto"/>
                <a:cs typeface="Roboto"/>
                <a:sym typeface="Roboto"/>
              </a:rPr>
              <a:t> Leadership asks generic questions</a:t>
            </a:r>
            <a:br>
              <a:rPr b="0" i="0" lang="en-US" sz="1300" u="none" cap="none" strike="noStrike">
                <a:solidFill>
                  <a:srgbClr val="55526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1" i="0" lang="en-US" sz="1300" u="none" cap="none" strike="noStrike">
                <a:solidFill>
                  <a:srgbClr val="555261"/>
                </a:solidFill>
                <a:latin typeface="Roboto"/>
                <a:ea typeface="Roboto"/>
                <a:cs typeface="Roboto"/>
                <a:sym typeface="Roboto"/>
              </a:rPr>
              <a:t>2.</a:t>
            </a:r>
            <a:r>
              <a:rPr b="0" i="0" lang="en-US" sz="1300" u="none" cap="none" strike="noStrike">
                <a:solidFill>
                  <a:srgbClr val="555261"/>
                </a:solidFill>
                <a:latin typeface="Roboto"/>
                <a:ea typeface="Roboto"/>
                <a:cs typeface="Roboto"/>
                <a:sym typeface="Roboto"/>
              </a:rPr>
              <a:t> Reps give fluffy answers on close dates</a:t>
            </a:r>
            <a:br>
              <a:rPr b="0" i="0" lang="en-US" sz="1300" u="none" cap="none" strike="noStrike">
                <a:solidFill>
                  <a:srgbClr val="55526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1" i="0" lang="en-US" sz="1300" u="none" cap="none" strike="noStrike">
                <a:solidFill>
                  <a:srgbClr val="555261"/>
                </a:solidFill>
                <a:latin typeface="Roboto"/>
                <a:ea typeface="Roboto"/>
                <a:cs typeface="Roboto"/>
                <a:sym typeface="Roboto"/>
              </a:rPr>
              <a:t>3.</a:t>
            </a:r>
            <a:r>
              <a:rPr b="0" i="0" lang="en-US" sz="1300" u="none" cap="none" strike="noStrike">
                <a:solidFill>
                  <a:srgbClr val="555261"/>
                </a:solidFill>
                <a:latin typeface="Roboto"/>
                <a:ea typeface="Roboto"/>
                <a:cs typeface="Roboto"/>
                <a:sym typeface="Roboto"/>
              </a:rPr>
              <a:t> We spend the call debating whether a date is realistic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55261"/>
              </a:buClr>
              <a:buSzPts val="1300"/>
              <a:buFont typeface="Roboto"/>
              <a:buNone/>
            </a:pPr>
            <a:r>
              <a:rPr b="1" i="0" lang="en-US" sz="1300" u="none" cap="none" strike="noStrike">
                <a:solidFill>
                  <a:srgbClr val="555261"/>
                </a:solidFill>
                <a:latin typeface="Roboto"/>
                <a:ea typeface="Roboto"/>
                <a:cs typeface="Roboto"/>
                <a:sym typeface="Roboto"/>
              </a:rPr>
              <a:t>4.</a:t>
            </a:r>
            <a:r>
              <a:rPr b="0" i="0" lang="en-US" sz="1300" u="none" cap="none" strike="noStrike">
                <a:solidFill>
                  <a:srgbClr val="555261"/>
                </a:solidFill>
                <a:latin typeface="Roboto"/>
                <a:ea typeface="Roboto"/>
                <a:cs typeface="Roboto"/>
                <a:sym typeface="Roboto"/>
              </a:rPr>
              <a:t> No action steps. Same conversation next week.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10"/>
          <p:cNvSpPr/>
          <p:nvPr/>
        </p:nvSpPr>
        <p:spPr>
          <a:xfrm>
            <a:off x="4846320" y="1508760"/>
            <a:ext cx="3840600" cy="2926200"/>
          </a:xfrm>
          <a:prstGeom prst="rect">
            <a:avLst/>
          </a:prstGeom>
          <a:solidFill>
            <a:srgbClr val="343247"/>
          </a:solidFill>
          <a:ln cap="flat" cmpd="sng" w="19050">
            <a:solidFill>
              <a:srgbClr val="872DED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1804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10"/>
          <p:cNvSpPr/>
          <p:nvPr/>
        </p:nvSpPr>
        <p:spPr>
          <a:xfrm>
            <a:off x="4846320" y="1508760"/>
            <a:ext cx="3840480" cy="411480"/>
          </a:xfrm>
          <a:prstGeom prst="rect">
            <a:avLst/>
          </a:prstGeom>
          <a:solidFill>
            <a:srgbClr val="872DED"/>
          </a:solidFill>
          <a:ln cap="flat" cmpd="sng" w="12700">
            <a:solidFill>
              <a:srgbClr val="872D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10"/>
          <p:cNvSpPr/>
          <p:nvPr/>
        </p:nvSpPr>
        <p:spPr>
          <a:xfrm>
            <a:off x="4846320" y="1572768"/>
            <a:ext cx="3840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WITH AI CONTEXT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10"/>
          <p:cNvSpPr/>
          <p:nvPr/>
        </p:nvSpPr>
        <p:spPr>
          <a:xfrm>
            <a:off x="5029200" y="2103120"/>
            <a:ext cx="3474720" cy="2194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D4CFF5"/>
              </a:buClr>
              <a:buSzPts val="1300"/>
              <a:buFont typeface="Roboto"/>
              <a:buNone/>
            </a:pPr>
            <a:r>
              <a:rPr b="1" i="0" lang="en-US" sz="1300" u="none" cap="none" strike="noStrike">
                <a:solidFill>
                  <a:srgbClr val="D4CFF5"/>
                </a:solidFill>
                <a:latin typeface="Roboto"/>
                <a:ea typeface="Roboto"/>
                <a:cs typeface="Roboto"/>
                <a:sym typeface="Roboto"/>
              </a:rPr>
              <a:t>1.</a:t>
            </a:r>
            <a:r>
              <a:rPr b="0" i="0" lang="en-US" sz="1300" u="none" cap="none" strike="noStrike">
                <a:solidFill>
                  <a:srgbClr val="D4CFF5"/>
                </a:solidFill>
                <a:latin typeface="Roboto"/>
                <a:ea typeface="Roboto"/>
                <a:cs typeface="Roboto"/>
                <a:sym typeface="Roboto"/>
              </a:rPr>
              <a:t> Manager pulls close date from account context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D4CFF5"/>
              </a:buClr>
              <a:buSzPts val="1300"/>
              <a:buFont typeface="Roboto"/>
              <a:buNone/>
            </a:pPr>
            <a:r>
              <a:rPr b="1" i="0" lang="en-US" sz="1300" u="none" cap="none" strike="noStrike">
                <a:solidFill>
                  <a:srgbClr val="D4CFF5"/>
                </a:solidFill>
                <a:latin typeface="Roboto"/>
                <a:ea typeface="Roboto"/>
                <a:cs typeface="Roboto"/>
                <a:sym typeface="Roboto"/>
              </a:rPr>
              <a:t>2.</a:t>
            </a:r>
            <a:r>
              <a:rPr b="0" i="0" lang="en-US" sz="1300" u="none" cap="none" strike="noStrike">
                <a:solidFill>
                  <a:srgbClr val="D4CFF5"/>
                </a:solidFill>
                <a:latin typeface="Roboto"/>
                <a:ea typeface="Roboto"/>
                <a:cs typeface="Roboto"/>
                <a:sym typeface="Roboto"/>
              </a:rPr>
              <a:t> Rep pulls their own close date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D4CFF5"/>
              </a:buClr>
              <a:buSzPts val="1300"/>
              <a:buFont typeface="Roboto"/>
              <a:buNone/>
            </a:pPr>
            <a:r>
              <a:rPr b="1" i="0" lang="en-US" sz="1300" u="none" cap="none" strike="noStrike">
                <a:solidFill>
                  <a:srgbClr val="D4CFF5"/>
                </a:solidFill>
                <a:latin typeface="Roboto"/>
                <a:ea typeface="Roboto"/>
                <a:cs typeface="Roboto"/>
                <a:sym typeface="Roboto"/>
              </a:rPr>
              <a:t>3.</a:t>
            </a:r>
            <a:r>
              <a:rPr b="0" i="0" lang="en-US" sz="1300" u="none" cap="none" strike="noStrike">
                <a:solidFill>
                  <a:srgbClr val="D4CFF5"/>
                </a:solidFill>
                <a:latin typeface="Roboto"/>
                <a:ea typeface="Roboto"/>
                <a:cs typeface="Roboto"/>
                <a:sym typeface="Roboto"/>
              </a:rPr>
              <a:t> Discussion focuses on the gap</a:t>
            </a:r>
            <a:r>
              <a:rPr lang="en-US" sz="1300">
                <a:solidFill>
                  <a:srgbClr val="D4CFF5"/>
                </a:solidFill>
                <a:latin typeface="Roboto"/>
                <a:ea typeface="Roboto"/>
                <a:cs typeface="Roboto"/>
                <a:sym typeface="Roboto"/>
              </a:rPr>
              <a:t>,</a:t>
            </a:r>
            <a:r>
              <a:rPr b="0" i="0" lang="en-US" sz="1300" u="none" cap="none" strike="noStrike">
                <a:solidFill>
                  <a:srgbClr val="D4CFF5"/>
                </a:solidFill>
                <a:latin typeface="Roboto"/>
                <a:ea typeface="Roboto"/>
                <a:cs typeface="Roboto"/>
                <a:sym typeface="Roboto"/>
              </a:rPr>
              <a:t> not the made up date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D4CFF5"/>
              </a:buClr>
              <a:buSzPts val="1300"/>
              <a:buFont typeface="Roboto"/>
              <a:buNone/>
            </a:pPr>
            <a:r>
              <a:rPr b="1" i="0" lang="en-US" sz="1300" u="none" cap="none" strike="noStrike">
                <a:solidFill>
                  <a:srgbClr val="D4CFF5"/>
                </a:solidFill>
                <a:latin typeface="Roboto"/>
                <a:ea typeface="Roboto"/>
                <a:cs typeface="Roboto"/>
                <a:sym typeface="Roboto"/>
              </a:rPr>
              <a:t>4.</a:t>
            </a:r>
            <a:r>
              <a:rPr b="0" i="0" lang="en-US" sz="1300" u="none" cap="none" strike="noStrike">
                <a:solidFill>
                  <a:srgbClr val="D4CFF5"/>
                </a:solidFill>
                <a:latin typeface="Roboto"/>
                <a:ea typeface="Roboto"/>
                <a:cs typeface="Roboto"/>
                <a:sym typeface="Roboto"/>
              </a:rPr>
              <a:t> Leave </a:t>
            </a:r>
            <a:r>
              <a:rPr lang="en-US" sz="1300">
                <a:solidFill>
                  <a:srgbClr val="D4CFF5"/>
                </a:solidFill>
                <a:latin typeface="Roboto"/>
                <a:ea typeface="Roboto"/>
                <a:cs typeface="Roboto"/>
                <a:sym typeface="Roboto"/>
              </a:rPr>
              <a:t>with </a:t>
            </a:r>
            <a:r>
              <a:rPr b="0" i="0" lang="en-US" sz="1300" u="none" cap="none" strike="noStrike">
                <a:solidFill>
                  <a:srgbClr val="D4CFF5"/>
                </a:solidFill>
                <a:latin typeface="Roboto"/>
                <a:ea typeface="Roboto"/>
                <a:cs typeface="Roboto"/>
                <a:sym typeface="Roboto"/>
              </a:rPr>
              <a:t>with a</a:t>
            </a:r>
            <a:r>
              <a:rPr lang="en-US" sz="1300">
                <a:solidFill>
                  <a:srgbClr val="D4CFF5"/>
                </a:solidFill>
                <a:latin typeface="Roboto"/>
                <a:ea typeface="Roboto"/>
                <a:cs typeface="Roboto"/>
                <a:sym typeface="Roboto"/>
              </a:rPr>
              <a:t> stronger deal, data-informed </a:t>
            </a:r>
            <a:r>
              <a:rPr lang="en-US" sz="1300">
                <a:solidFill>
                  <a:srgbClr val="D4CFF5"/>
                </a:solidFill>
                <a:latin typeface="Roboto"/>
                <a:ea typeface="Roboto"/>
                <a:cs typeface="Roboto"/>
                <a:sym typeface="Roboto"/>
              </a:rPr>
              <a:t>close</a:t>
            </a:r>
            <a:r>
              <a:rPr lang="en-US" sz="1300">
                <a:solidFill>
                  <a:srgbClr val="D4CFF5"/>
                </a:solidFill>
                <a:latin typeface="Roboto"/>
                <a:ea typeface="Roboto"/>
                <a:cs typeface="Roboto"/>
                <a:sym typeface="Roboto"/>
              </a:rPr>
              <a:t> data, and </a:t>
            </a:r>
            <a:r>
              <a:rPr b="0" i="0" lang="en-US" sz="1300" u="none" cap="none" strike="noStrike">
                <a:solidFill>
                  <a:srgbClr val="D4CFF5"/>
                </a:solidFill>
                <a:latin typeface="Roboto"/>
                <a:ea typeface="Roboto"/>
                <a:cs typeface="Roboto"/>
                <a:sym typeface="Roboto"/>
              </a:rPr>
              <a:t>concrete action </a:t>
            </a:r>
            <a:r>
              <a:rPr lang="en-US" sz="1300">
                <a:solidFill>
                  <a:srgbClr val="D4CFF5"/>
                </a:solidFill>
                <a:latin typeface="Roboto"/>
                <a:ea typeface="Roboto"/>
                <a:cs typeface="Roboto"/>
                <a:sym typeface="Roboto"/>
              </a:rPr>
              <a:t>items</a:t>
            </a:r>
            <a:r>
              <a:rPr b="0" i="0" lang="en-US" sz="1300" u="none" cap="none" strike="noStrike">
                <a:solidFill>
                  <a:srgbClr val="D4CFF5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10"/>
          <p:cNvSpPr/>
          <p:nvPr/>
        </p:nvSpPr>
        <p:spPr>
          <a:xfrm>
            <a:off x="457200" y="4526280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261"/>
              </a:buClr>
              <a:buSzPts val="1200"/>
              <a:buFont typeface="Roboto"/>
              <a:buNone/>
            </a:pPr>
            <a:r>
              <a:rPr b="0" i="1" lang="en-US" sz="1200" u="none" cap="none" strike="noStrike">
                <a:solidFill>
                  <a:srgbClr val="555261"/>
                </a:solidFill>
                <a:latin typeface="Roboto"/>
                <a:ea typeface="Roboto"/>
                <a:cs typeface="Roboto"/>
                <a:sym typeface="Roboto"/>
              </a:rPr>
              <a:t>Next step: pilot this in a commercial forecast call.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343247"/>
        </a:solidFill>
      </p:bgPr>
    </p:bg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1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FB32D"/>
          </a:solidFill>
          <a:ln cap="flat" cmpd="sng" w="12700">
            <a:solidFill>
              <a:srgbClr val="FFB3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11"/>
          <p:cNvSpPr/>
          <p:nvPr/>
        </p:nvSpPr>
        <p:spPr>
          <a:xfrm>
            <a:off x="457200" y="256032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B32D"/>
              </a:buClr>
              <a:buSzPts val="1100"/>
              <a:buFont typeface="Roboto"/>
              <a:buNone/>
            </a:pPr>
            <a:r>
              <a:rPr b="1" i="0" lang="en-US" sz="1100" u="none" cap="none" strike="noStrike">
                <a:solidFill>
                  <a:srgbClr val="FFB32D"/>
                </a:solidFill>
                <a:latin typeface="Roboto"/>
                <a:ea typeface="Roboto"/>
                <a:cs typeface="Roboto"/>
                <a:sym typeface="Roboto"/>
              </a:rPr>
              <a:t>WHAT'S NEXT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11"/>
          <p:cNvSpPr/>
          <p:nvPr/>
        </p:nvSpPr>
        <p:spPr>
          <a:xfrm>
            <a:off x="457200" y="594360"/>
            <a:ext cx="82296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League Gothic"/>
              <a:buNone/>
            </a:pPr>
            <a:r>
              <a:rPr b="1" i="0" lang="en-US" sz="4000" u="none" cap="none" strike="noStrike">
                <a:solidFill>
                  <a:srgbClr val="FFFFFF"/>
                </a:solidFill>
                <a:latin typeface="League Gothic"/>
                <a:ea typeface="League Gothic"/>
                <a:cs typeface="League Gothic"/>
                <a:sym typeface="League Gothic"/>
              </a:rPr>
              <a:t>The roadmap for the AI-powered GTM org.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11"/>
          <p:cNvSpPr/>
          <p:nvPr/>
        </p:nvSpPr>
        <p:spPr>
          <a:xfrm>
            <a:off x="457200" y="1508760"/>
            <a:ext cx="3840480" cy="822960"/>
          </a:xfrm>
          <a:prstGeom prst="rect">
            <a:avLst/>
          </a:prstGeom>
          <a:solidFill>
            <a:srgbClr val="555261"/>
          </a:solidFill>
          <a:ln cap="flat" cmpd="sng" w="12700">
            <a:solidFill>
              <a:srgbClr val="872D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11"/>
          <p:cNvSpPr/>
          <p:nvPr/>
        </p:nvSpPr>
        <p:spPr>
          <a:xfrm>
            <a:off x="457200" y="1508760"/>
            <a:ext cx="54864" cy="822960"/>
          </a:xfrm>
          <a:prstGeom prst="rect">
            <a:avLst/>
          </a:prstGeom>
          <a:solidFill>
            <a:srgbClr val="FFB32D"/>
          </a:solidFill>
          <a:ln cap="flat" cmpd="sng" w="12700">
            <a:solidFill>
              <a:srgbClr val="FFB3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11"/>
          <p:cNvSpPr/>
          <p:nvPr/>
        </p:nvSpPr>
        <p:spPr>
          <a:xfrm>
            <a:off x="612648" y="1554480"/>
            <a:ext cx="36118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360° Account View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11"/>
          <p:cNvSpPr/>
          <p:nvPr/>
        </p:nvSpPr>
        <p:spPr>
          <a:xfrm>
            <a:off x="612648" y="1874520"/>
            <a:ext cx="36118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4CFF5"/>
              </a:buClr>
              <a:buSzPts val="1000"/>
              <a:buFont typeface="Roboto"/>
              <a:buNone/>
            </a:pPr>
            <a:r>
              <a:rPr b="0" i="0" lang="en-US" sz="1000" u="none" cap="none" strike="noStrike">
                <a:solidFill>
                  <a:srgbClr val="D4CFF5"/>
                </a:solidFill>
                <a:latin typeface="Roboto"/>
                <a:ea typeface="Roboto"/>
                <a:cs typeface="Roboto"/>
                <a:sym typeface="Roboto"/>
              </a:rPr>
              <a:t>Salesforce, Sigma, Slack, ZenDesk, Gong, and more</a:t>
            </a:r>
            <a:r>
              <a:rPr lang="en-US" sz="1000">
                <a:solidFill>
                  <a:srgbClr val="D4CFF5"/>
                </a:solidFill>
                <a:latin typeface="Roboto"/>
                <a:ea typeface="Roboto"/>
                <a:cs typeface="Roboto"/>
                <a:sym typeface="Roboto"/>
              </a:rPr>
              <a:t>,</a:t>
            </a:r>
            <a:r>
              <a:rPr b="0" i="0" lang="en-US" sz="1000" u="none" cap="none" strike="noStrike">
                <a:solidFill>
                  <a:srgbClr val="D4CFF5"/>
                </a:solidFill>
                <a:latin typeface="Roboto"/>
                <a:ea typeface="Roboto"/>
                <a:cs typeface="Roboto"/>
                <a:sym typeface="Roboto"/>
              </a:rPr>
              <a:t> all in one </a:t>
            </a:r>
            <a:r>
              <a:rPr lang="en-US" sz="1000">
                <a:solidFill>
                  <a:srgbClr val="D4CFF5"/>
                </a:solidFill>
                <a:latin typeface="Roboto"/>
                <a:ea typeface="Roboto"/>
                <a:cs typeface="Roboto"/>
                <a:sym typeface="Roboto"/>
              </a:rPr>
              <a:t>searchable</a:t>
            </a:r>
            <a:r>
              <a:rPr b="0" i="0" lang="en-US" sz="1000" u="none" cap="none" strike="noStrike">
                <a:solidFill>
                  <a:srgbClr val="D4CFF5"/>
                </a:solidFill>
                <a:latin typeface="Roboto"/>
                <a:ea typeface="Roboto"/>
                <a:cs typeface="Roboto"/>
                <a:sym typeface="Roboto"/>
              </a:rPr>
              <a:t> context per account.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11"/>
          <p:cNvSpPr/>
          <p:nvPr/>
        </p:nvSpPr>
        <p:spPr>
          <a:xfrm>
            <a:off x="457200" y="2441448"/>
            <a:ext cx="3840480" cy="822960"/>
          </a:xfrm>
          <a:prstGeom prst="rect">
            <a:avLst/>
          </a:prstGeom>
          <a:solidFill>
            <a:srgbClr val="555261"/>
          </a:solidFill>
          <a:ln cap="flat" cmpd="sng" w="12700">
            <a:solidFill>
              <a:srgbClr val="872D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11"/>
          <p:cNvSpPr/>
          <p:nvPr/>
        </p:nvSpPr>
        <p:spPr>
          <a:xfrm>
            <a:off x="457200" y="2441448"/>
            <a:ext cx="54864" cy="822960"/>
          </a:xfrm>
          <a:prstGeom prst="rect">
            <a:avLst/>
          </a:prstGeom>
          <a:solidFill>
            <a:srgbClr val="FFB32D"/>
          </a:solidFill>
          <a:ln cap="flat" cmpd="sng" w="12700">
            <a:solidFill>
              <a:srgbClr val="FFB3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11"/>
          <p:cNvSpPr/>
          <p:nvPr/>
        </p:nvSpPr>
        <p:spPr>
          <a:xfrm>
            <a:off x="612648" y="2487168"/>
            <a:ext cx="36118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Comprehensive Deal Analysis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11"/>
          <p:cNvSpPr/>
          <p:nvPr/>
        </p:nvSpPr>
        <p:spPr>
          <a:xfrm>
            <a:off x="612648" y="2807208"/>
            <a:ext cx="36118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4CFF5"/>
              </a:buClr>
              <a:buSzPts val="1000"/>
              <a:buFont typeface="Roboto"/>
              <a:buNone/>
            </a:pPr>
            <a:r>
              <a:rPr b="0" i="0" lang="en-US" sz="1000" u="none" cap="none" strike="noStrike">
                <a:solidFill>
                  <a:srgbClr val="D4CFF5"/>
                </a:solidFill>
                <a:latin typeface="Roboto"/>
                <a:ea typeface="Roboto"/>
                <a:cs typeface="Roboto"/>
                <a:sym typeface="Roboto"/>
              </a:rPr>
              <a:t>AI-generated gap analysis across the full pipeline before every forecast call.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11"/>
          <p:cNvSpPr/>
          <p:nvPr/>
        </p:nvSpPr>
        <p:spPr>
          <a:xfrm>
            <a:off x="457200" y="3374136"/>
            <a:ext cx="3840480" cy="822960"/>
          </a:xfrm>
          <a:prstGeom prst="rect">
            <a:avLst/>
          </a:prstGeom>
          <a:solidFill>
            <a:srgbClr val="555261"/>
          </a:solidFill>
          <a:ln cap="flat" cmpd="sng" w="12700">
            <a:solidFill>
              <a:srgbClr val="872D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11"/>
          <p:cNvSpPr/>
          <p:nvPr/>
        </p:nvSpPr>
        <p:spPr>
          <a:xfrm>
            <a:off x="457200" y="3374136"/>
            <a:ext cx="54864" cy="822960"/>
          </a:xfrm>
          <a:prstGeom prst="rect">
            <a:avLst/>
          </a:prstGeom>
          <a:solidFill>
            <a:srgbClr val="FFB32D"/>
          </a:solidFill>
          <a:ln cap="flat" cmpd="sng" w="12700">
            <a:solidFill>
              <a:srgbClr val="FFB3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11"/>
          <p:cNvSpPr/>
          <p:nvPr/>
        </p:nvSpPr>
        <p:spPr>
          <a:xfrm>
            <a:off x="612648" y="3419856"/>
            <a:ext cx="36118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Personalized Outbound at Scale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11"/>
          <p:cNvSpPr/>
          <p:nvPr/>
        </p:nvSpPr>
        <p:spPr>
          <a:xfrm>
            <a:off x="612648" y="3739896"/>
            <a:ext cx="36118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4CFF5"/>
              </a:buClr>
              <a:buSzPts val="1000"/>
              <a:buFont typeface="Roboto"/>
              <a:buNone/>
            </a:pPr>
            <a:r>
              <a:rPr b="0" i="0" lang="en-US" sz="1000" u="none" cap="none" strike="noStrike">
                <a:solidFill>
                  <a:srgbClr val="D4CFF5"/>
                </a:solidFill>
                <a:latin typeface="Roboto"/>
                <a:ea typeface="Roboto"/>
                <a:cs typeface="Roboto"/>
                <a:sym typeface="Roboto"/>
              </a:rPr>
              <a:t>Nurture emails, ghost notes, and campaign triggers across all ICP accounts</a:t>
            </a:r>
            <a:r>
              <a:rPr lang="en-US" sz="1000">
                <a:solidFill>
                  <a:srgbClr val="D4CFF5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11"/>
          <p:cNvSpPr/>
          <p:nvPr/>
        </p:nvSpPr>
        <p:spPr>
          <a:xfrm>
            <a:off x="4709160" y="1508760"/>
            <a:ext cx="3840480" cy="822960"/>
          </a:xfrm>
          <a:prstGeom prst="rect">
            <a:avLst/>
          </a:prstGeom>
          <a:solidFill>
            <a:srgbClr val="555261"/>
          </a:solidFill>
          <a:ln cap="flat" cmpd="sng" w="12700">
            <a:solidFill>
              <a:srgbClr val="872D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11"/>
          <p:cNvSpPr/>
          <p:nvPr/>
        </p:nvSpPr>
        <p:spPr>
          <a:xfrm>
            <a:off x="4709160" y="1508760"/>
            <a:ext cx="54864" cy="822960"/>
          </a:xfrm>
          <a:prstGeom prst="rect">
            <a:avLst/>
          </a:prstGeom>
          <a:solidFill>
            <a:srgbClr val="FFB32D"/>
          </a:solidFill>
          <a:ln cap="flat" cmpd="sng" w="12700">
            <a:solidFill>
              <a:srgbClr val="FFB3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11"/>
          <p:cNvSpPr/>
          <p:nvPr/>
        </p:nvSpPr>
        <p:spPr>
          <a:xfrm>
            <a:off x="4864608" y="1554480"/>
            <a:ext cx="36118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Always-Fresh Comp Intel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11"/>
          <p:cNvSpPr/>
          <p:nvPr/>
        </p:nvSpPr>
        <p:spPr>
          <a:xfrm>
            <a:off x="4864608" y="1874520"/>
            <a:ext cx="36118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4CFF5"/>
              </a:buClr>
              <a:buSzPts val="1000"/>
              <a:buFont typeface="Roboto"/>
              <a:buNone/>
            </a:pPr>
            <a:r>
              <a:rPr b="0" i="0" lang="en-US" sz="1000" u="none" cap="none" strike="noStrike">
                <a:solidFill>
                  <a:srgbClr val="D4CFF5"/>
                </a:solidFill>
                <a:latin typeface="Roboto"/>
                <a:ea typeface="Roboto"/>
                <a:cs typeface="Roboto"/>
                <a:sym typeface="Roboto"/>
              </a:rPr>
              <a:t>Updated competitive intelligence slides and docs, refreshed via Airflow.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11"/>
          <p:cNvSpPr/>
          <p:nvPr/>
        </p:nvSpPr>
        <p:spPr>
          <a:xfrm>
            <a:off x="4709160" y="2441448"/>
            <a:ext cx="3840480" cy="822960"/>
          </a:xfrm>
          <a:prstGeom prst="rect">
            <a:avLst/>
          </a:prstGeom>
          <a:solidFill>
            <a:srgbClr val="555261"/>
          </a:solidFill>
          <a:ln cap="flat" cmpd="sng" w="12700">
            <a:solidFill>
              <a:srgbClr val="872D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11"/>
          <p:cNvSpPr/>
          <p:nvPr/>
        </p:nvSpPr>
        <p:spPr>
          <a:xfrm>
            <a:off x="4709160" y="2441448"/>
            <a:ext cx="54864" cy="822960"/>
          </a:xfrm>
          <a:prstGeom prst="rect">
            <a:avLst/>
          </a:prstGeom>
          <a:solidFill>
            <a:srgbClr val="FFB32D"/>
          </a:solidFill>
          <a:ln cap="flat" cmpd="sng" w="12700">
            <a:solidFill>
              <a:srgbClr val="FFB3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11"/>
          <p:cNvSpPr/>
          <p:nvPr/>
        </p:nvSpPr>
        <p:spPr>
          <a:xfrm>
            <a:off x="4864608" y="2487168"/>
            <a:ext cx="36118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Automated Call Prep &amp; Follow-Ups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11"/>
          <p:cNvSpPr/>
          <p:nvPr/>
        </p:nvSpPr>
        <p:spPr>
          <a:xfrm>
            <a:off x="4864608" y="2807208"/>
            <a:ext cx="36118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4CFF5"/>
              </a:buClr>
              <a:buSzPts val="1000"/>
              <a:buFont typeface="Roboto"/>
              <a:buNone/>
            </a:pPr>
            <a:r>
              <a:rPr b="0" i="0" lang="en-US" sz="1000" u="none" cap="none" strike="noStrike">
                <a:solidFill>
                  <a:srgbClr val="D4CFF5"/>
                </a:solidFill>
                <a:latin typeface="Roboto"/>
                <a:ea typeface="Roboto"/>
                <a:cs typeface="Roboto"/>
                <a:sym typeface="Roboto"/>
              </a:rPr>
              <a:t>Pre-call briefs and post-call follow-ups generated automatically for every meeting.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11"/>
          <p:cNvSpPr/>
          <p:nvPr/>
        </p:nvSpPr>
        <p:spPr>
          <a:xfrm>
            <a:off x="4709110" y="3374123"/>
            <a:ext cx="3840600" cy="822900"/>
          </a:xfrm>
          <a:prstGeom prst="rect">
            <a:avLst/>
          </a:prstGeom>
          <a:solidFill>
            <a:srgbClr val="555261"/>
          </a:solidFill>
          <a:ln cap="flat" cmpd="sng" w="12700">
            <a:solidFill>
              <a:srgbClr val="872D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11"/>
          <p:cNvSpPr/>
          <p:nvPr/>
        </p:nvSpPr>
        <p:spPr>
          <a:xfrm>
            <a:off x="4709110" y="3374123"/>
            <a:ext cx="54900" cy="822900"/>
          </a:xfrm>
          <a:prstGeom prst="rect">
            <a:avLst/>
          </a:prstGeom>
          <a:solidFill>
            <a:srgbClr val="FFB32D"/>
          </a:solidFill>
          <a:ln cap="flat" cmpd="sng" w="12700">
            <a:solidFill>
              <a:srgbClr val="FFB3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11"/>
          <p:cNvSpPr/>
          <p:nvPr/>
        </p:nvSpPr>
        <p:spPr>
          <a:xfrm>
            <a:off x="4864558" y="3630168"/>
            <a:ext cx="36120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"/>
              <a:buNone/>
            </a:pPr>
            <a:r>
              <a:rPr b="1" lang="en-US" sz="12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And more to come!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